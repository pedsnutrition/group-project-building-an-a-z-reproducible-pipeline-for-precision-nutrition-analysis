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61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  <p:sldId id="300" r:id="rId23"/>
    <p:sldId id="304" r:id="rId24"/>
    <p:sldId id="301" r:id="rId25"/>
    <p:sldId id="30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1" autoAdjust="0"/>
    <p:restoredTop sz="89935" autoAdjust="0"/>
  </p:normalViewPr>
  <p:slideViewPr>
    <p:cSldViewPr snapToGrid="0">
      <p:cViewPr varScale="1">
        <p:scale>
          <a:sx n="74" d="100"/>
          <a:sy n="74" d="100"/>
        </p:scale>
        <p:origin x="96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DE3B6A-1818-454F-B66A-F376DC516B39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BA6D2D-805E-47CF-8770-EC0B19399A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193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Flow Brief Outline with R Packages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947417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1. Visual inspection of missing data </a:t>
            </a:r>
          </a:p>
          <a:p>
            <a:r>
              <a:rPr lang="en-US" dirty="0"/>
              <a:t>R package Line 38 (modified to fit in the frame)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30119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2. Missingness combinations</a:t>
            </a:r>
          </a:p>
          <a:p>
            <a:r>
              <a:rPr lang="en-US" dirty="0"/>
              <a:t>R package Line 41</a:t>
            </a:r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379760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3. Distribution of zBMI at 24 months</a:t>
            </a:r>
          </a:p>
          <a:p>
            <a:r>
              <a:rPr lang="en-US" dirty="0"/>
              <a:t>R package Line 55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084462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4. Distribution of CRP log transformed</a:t>
            </a:r>
          </a:p>
          <a:p>
            <a:r>
              <a:rPr lang="en-US" dirty="0"/>
              <a:t>R package Line 65 (modified to handle 11 negative values; changed to N/A if negative)</a:t>
            </a:r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856024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package Lines 91 to 132 (modified to visualize the data and keep the codes consistent for cleaning)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397579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package Line 183</a:t>
            </a:r>
          </a:p>
          <a:p>
            <a:r>
              <a:rPr lang="en-US" dirty="0"/>
              <a:t>Optimal K = 3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51077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5. NBClust voting results</a:t>
            </a:r>
          </a:p>
          <a:p>
            <a:r>
              <a:rPr lang="en-US" dirty="0"/>
              <a:t>R package Line 202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90169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6. Elbow method for number of clusters results</a:t>
            </a:r>
          </a:p>
          <a:p>
            <a:r>
              <a:rPr lang="en-US" dirty="0"/>
              <a:t>R package Line 233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48929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7. Silhouette Analysis for number of clusters results</a:t>
            </a:r>
          </a:p>
          <a:p>
            <a:r>
              <a:rPr lang="en-US" dirty="0"/>
              <a:t>R package Line 277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48593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8. Comparison of different numbers of clusters</a:t>
            </a:r>
          </a:p>
          <a:p>
            <a:r>
              <a:rPr lang="en-US" dirty="0"/>
              <a:t>R package Line 318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71304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9. Index heatmap </a:t>
            </a:r>
          </a:p>
          <a:p>
            <a:r>
              <a:rPr lang="en-US" dirty="0"/>
              <a:t>R package Line 354</a:t>
            </a:r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24382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10. Summary of optimal number of clusters</a:t>
            </a:r>
          </a:p>
          <a:p>
            <a:r>
              <a:rPr lang="en-US" dirty="0"/>
              <a:t>R package Line 392</a:t>
            </a:r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28896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11. Euclidean distance raw results</a:t>
            </a:r>
          </a:p>
          <a:p>
            <a:r>
              <a:rPr lang="en-US" dirty="0"/>
              <a:t>R package Line 433</a:t>
            </a:r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614682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12. Manhattan distance raw results</a:t>
            </a:r>
          </a:p>
          <a:p>
            <a:r>
              <a:rPr lang="en-US" dirty="0"/>
              <a:t>R package Line 435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53987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13. Standardized data vs. raw data of Euclidean Distance</a:t>
            </a:r>
          </a:p>
          <a:p>
            <a:r>
              <a:rPr lang="en-US" dirty="0"/>
              <a:t>R package Line 449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040411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14. K-means clustering of zBMI_24m (Boxplot)</a:t>
            </a:r>
          </a:p>
          <a:p>
            <a:r>
              <a:rPr lang="en-US" dirty="0"/>
              <a:t>R package Line 512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957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15. PAM clustering of zBMI_24m (Boxplot)</a:t>
            </a:r>
          </a:p>
          <a:p>
            <a:r>
              <a:rPr lang="en-US" dirty="0"/>
              <a:t>R package Line 532</a:t>
            </a:r>
          </a:p>
          <a:p>
            <a:r>
              <a:rPr lang="en-CA" dirty="0"/>
              <a:t>Line 550 is added “table(</a:t>
            </a:r>
            <a:r>
              <a:rPr lang="en-CA" dirty="0" err="1"/>
              <a:t>pam.res$clustering</a:t>
            </a:r>
            <a:r>
              <a:rPr lang="en-CA" dirty="0"/>
              <a:t>)” to visualize the 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862624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16. Hierarchical cluster dendrogram of zBMI_24m </a:t>
            </a:r>
          </a:p>
          <a:p>
            <a:r>
              <a:rPr lang="en-US" dirty="0"/>
              <a:t>R package Line 552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786418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17. Hierarchical cluster dendrogram of zBMI_24m (colored)</a:t>
            </a:r>
          </a:p>
          <a:p>
            <a:r>
              <a:rPr lang="en-US" dirty="0"/>
              <a:t>R package Line 575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152993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18. Hierarchical cluster circular dendrogram of zBMI_24m </a:t>
            </a:r>
          </a:p>
          <a:p>
            <a:r>
              <a:rPr lang="en-US" dirty="0"/>
              <a:t>R package Line 587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09272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19. Hierarchical cluster phylogenic tree of zBMI_24m </a:t>
            </a:r>
          </a:p>
          <a:p>
            <a:r>
              <a:rPr lang="en-US" dirty="0"/>
              <a:t>R package Line 598</a:t>
            </a:r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619805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clusters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151077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Graph 20. Internal validation of zBMI_24m clusters (black = hierarchical, pink = k-means, green = PAM)</a:t>
            </a:r>
          </a:p>
          <a:p>
            <a:r>
              <a:rPr lang="en-US" dirty="0"/>
              <a:t>R package Line 653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89682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83A11-C406-950B-C44C-B6C14BCAC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51020D-8590-5423-334E-E7D9C648D1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1AE48B-12B9-740E-B993-C2392F0218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DC7C13-4D1A-5892-75D6-6494C8EA98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BA6D2D-805E-47CF-8770-EC0B19399AD5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54415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EDB5-15B8-120E-A91B-7BEBDC19FF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47CBA7-8AD4-CAC3-6BBF-4B5A4FC34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6C966-2BBA-9B97-B304-9E1EE8C0C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BF215-D58C-7EFC-EFC3-3DCA9B51D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71795A-BBB1-984D-A161-D25C6B78B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69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EEC11-B672-C162-A611-22E8191B9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BAF63-C712-1A28-E77A-AE5A50571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58B7F-1846-A487-3FC7-25CA2F00D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6DE9E-2324-26D8-C467-CE2E4849B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408743-B50A-0968-2233-ABF910B5C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5169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B2B71-1440-A2AB-1BA0-ACE5F63C7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3206D-3E3B-8525-3C37-B008964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B1193-12B0-201D-59C3-1B4D618E4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50099-A14F-CBED-6764-3834E871F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3E0FCA-C9E6-EDEC-AE55-567A92F50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0693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0FE96-B628-A248-CE8D-EE44F32B8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D7133-8661-360A-7B02-44D162EC79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311AB2-FACA-E48E-F72E-51238127E4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2E8CA7-71A1-C360-B9BC-9575D99CA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A2F948-3C5E-5213-E89D-AC49CC841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FB6C14-6B47-3598-522B-3CCD39FE2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56499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C5599-20FA-4DAF-6C6C-7231A26A0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421B9A-5840-3CD0-621A-6F7ACE847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445CE0-20C8-80B8-5E8D-9BE8603451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6B3EA5-440B-F2B1-C30E-5B0F090621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1BC88-E2EF-D08E-268A-1B26B8AB37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031F12-F153-CDA3-A37A-35C8A683E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09D55E-ECC1-BE24-7B94-831FFA677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19B1E0-AD73-2F51-8FAA-33DB89A06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10055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E8FBC-0C37-74F6-F12A-B93C17CCA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7E990D-0D15-21FB-6F1B-7B883FDB0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D77C9B-91C5-697C-F43B-341622A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C79A0-FFF8-EB6C-2BE3-B55B7E095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09013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3A180D-081C-A832-86A9-E4E5DF5AE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2FBF73-AC38-E75A-B42D-DFED81E23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AF23B2-9C3D-A9ED-3623-1FE8AA705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1500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C00F9-4DDC-80DF-5326-255E350C7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4C5A-C821-7265-A076-BFA249A2F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4B9F9E-FBD5-B147-E885-59C10BF733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3FB52-455F-BB5E-E57E-82A380493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9A7E3-CA30-114E-BC56-571319490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7C4179-BDA9-3ED8-A396-E6D33EF9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2801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3F73-44C3-B89E-AD9A-9AD7DAD22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0F1EF1-E567-1E1E-7C87-341A2643C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4B0A9F-21EA-CAEF-811C-D69D7A5C97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EF491-707B-118A-596F-7B7F4DC49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D7678A-1532-07BB-2E44-55058F243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A80155-6A04-FE7E-D599-31FEF6D9B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9604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6BDBA-0446-F8FB-922C-02B8C45DE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5E3230-982F-7168-5822-578E930562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AFBC5-7E47-9773-15D1-A20B65CEB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78EF2-38B7-964F-E884-A2C7F4917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44A36-2B36-9C2D-ACFE-74C5114AC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1175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CFD3EC-C569-4BE3-23CD-6519019D3E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649482-060E-00B6-F479-2E8A414A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0F1FC5-4DFB-B91B-6251-2DF41DBFF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E65BC-4565-9536-F3F4-D370C2A69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DCAD44-9A06-8EA5-FF06-B00AC2D30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0742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196E66-E834-BE84-62E5-50C73343A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E7050B-A965-D12E-BF95-C7818CA3D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15D61-1493-8E8E-DD36-A83CC321A7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BF30BC-E745-4854-B6E6-071AEEFCBC00}" type="datetimeFigureOut">
              <a:rPr lang="en-CA" smtClean="0"/>
              <a:t>2026-04-05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F06907-839E-6183-3C6A-99BED4A61B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563F4E-C288-2213-0863-8421B322B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BF17ED-C8A4-4CEF-B4CC-B59DECBEA74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04363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D1F4D-CE63-9F0A-1A6F-41CA33776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70B18B6-AB2E-292B-14D3-5AB433DD2C70}"/>
              </a:ext>
            </a:extLst>
          </p:cNvPr>
          <p:cNvSpPr/>
          <p:nvPr/>
        </p:nvSpPr>
        <p:spPr>
          <a:xfrm>
            <a:off x="1724484" y="332037"/>
            <a:ext cx="1886173" cy="154910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Data Preprocessing</a:t>
            </a:r>
            <a:endParaRPr lang="en-CA" b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DE3665C-0506-79B5-E6EE-6F8FA4CE6E12}"/>
              </a:ext>
            </a:extLst>
          </p:cNvPr>
          <p:cNvSpPr/>
          <p:nvPr/>
        </p:nvSpPr>
        <p:spPr>
          <a:xfrm>
            <a:off x="4103717" y="332036"/>
            <a:ext cx="1886173" cy="154910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Unsupervised Clustering</a:t>
            </a:r>
            <a:endParaRPr lang="en-CA" b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47A6590-01EF-A7A3-5E99-A597E00465B8}"/>
              </a:ext>
            </a:extLst>
          </p:cNvPr>
          <p:cNvSpPr/>
          <p:nvPr/>
        </p:nvSpPr>
        <p:spPr>
          <a:xfrm>
            <a:off x="6482950" y="332036"/>
            <a:ext cx="1886173" cy="15491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Clusters Validation</a:t>
            </a:r>
            <a:endParaRPr lang="en-CA" b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BD1190F-8F08-D5E1-9459-5807D1BBC743}"/>
              </a:ext>
            </a:extLst>
          </p:cNvPr>
          <p:cNvSpPr/>
          <p:nvPr/>
        </p:nvSpPr>
        <p:spPr>
          <a:xfrm>
            <a:off x="8862183" y="332036"/>
            <a:ext cx="1886173" cy="1549101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Data Interpretation</a:t>
            </a:r>
            <a:endParaRPr lang="en-CA" b="1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21C482C-A150-0520-54BC-AEDE1F8E1152}"/>
              </a:ext>
            </a:extLst>
          </p:cNvPr>
          <p:cNvCxnSpPr>
            <a:stCxn id="2" idx="3"/>
            <a:endCxn id="3" idx="1"/>
          </p:cNvCxnSpPr>
          <p:nvPr/>
        </p:nvCxnSpPr>
        <p:spPr>
          <a:xfrm flipV="1">
            <a:off x="3610657" y="1106587"/>
            <a:ext cx="493060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DEEB796-0D0F-A667-4695-0296CDFAC18B}"/>
              </a:ext>
            </a:extLst>
          </p:cNvPr>
          <p:cNvCxnSpPr/>
          <p:nvPr/>
        </p:nvCxnSpPr>
        <p:spPr>
          <a:xfrm flipV="1">
            <a:off x="5989890" y="1106586"/>
            <a:ext cx="493060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A71ED9-4EC5-6EF7-E133-2D2D2B43BD5B}"/>
              </a:ext>
            </a:extLst>
          </p:cNvPr>
          <p:cNvCxnSpPr/>
          <p:nvPr/>
        </p:nvCxnSpPr>
        <p:spPr>
          <a:xfrm flipV="1">
            <a:off x="8369123" y="1106585"/>
            <a:ext cx="493060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2C85D61-9C96-7571-1E10-72C4081682A1}"/>
              </a:ext>
            </a:extLst>
          </p:cNvPr>
          <p:cNvSpPr txBox="1"/>
          <p:nvPr/>
        </p:nvSpPr>
        <p:spPr>
          <a:xfrm>
            <a:off x="1486989" y="2304940"/>
            <a:ext cx="24048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(All variables)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Check missingness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Data standardization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Clean data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A9AC81-3F51-F94E-1BEB-133FF70E9E65}"/>
              </a:ext>
            </a:extLst>
          </p:cNvPr>
          <p:cNvSpPr txBox="1"/>
          <p:nvPr/>
        </p:nvSpPr>
        <p:spPr>
          <a:xfrm>
            <a:off x="3953586" y="2304940"/>
            <a:ext cx="224452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1400" dirty="0"/>
              <a:t>(zBMI_24m)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NbClust voting for 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Elbow method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Silhouette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PCA Visualization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Multiple K Comparison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Index Heatmap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C24439-0F37-39F4-2C00-5D0D61B97965}"/>
              </a:ext>
            </a:extLst>
          </p:cNvPr>
          <p:cNvSpPr txBox="1"/>
          <p:nvPr/>
        </p:nvSpPr>
        <p:spPr>
          <a:xfrm>
            <a:off x="3953586" y="4182377"/>
            <a:ext cx="20653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(zBMI_24m)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Euclidean metric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Manhattan metric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791579-CCEA-8AB9-5AD6-E677AF819898}"/>
              </a:ext>
            </a:extLst>
          </p:cNvPr>
          <p:cNvSpPr txBox="1"/>
          <p:nvPr/>
        </p:nvSpPr>
        <p:spPr>
          <a:xfrm>
            <a:off x="2189490" y="2027941"/>
            <a:ext cx="1014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highlight>
                  <a:srgbClr val="FFFF00"/>
                </a:highlight>
              </a:rPr>
              <a:t>R package 1</a:t>
            </a:r>
            <a:endParaRPr lang="en-CA" sz="1200" b="1" dirty="0">
              <a:highlight>
                <a:srgbClr val="FFFF00"/>
              </a:highligh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9433CC-758C-80F5-0C0E-A59A691B9260}"/>
              </a:ext>
            </a:extLst>
          </p:cNvPr>
          <p:cNvSpPr txBox="1"/>
          <p:nvPr/>
        </p:nvSpPr>
        <p:spPr>
          <a:xfrm>
            <a:off x="4568722" y="2027941"/>
            <a:ext cx="1014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highlight>
                  <a:srgbClr val="FFFF00"/>
                </a:highlight>
              </a:rPr>
              <a:t>R package 2</a:t>
            </a:r>
            <a:endParaRPr lang="en-CA" sz="1200" b="1" dirty="0">
              <a:highlight>
                <a:srgbClr val="FFFF00"/>
              </a:highligh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E36658-8B84-A9FF-E29E-C9ECA94B8F82}"/>
              </a:ext>
            </a:extLst>
          </p:cNvPr>
          <p:cNvSpPr txBox="1"/>
          <p:nvPr/>
        </p:nvSpPr>
        <p:spPr>
          <a:xfrm>
            <a:off x="4568722" y="3905378"/>
            <a:ext cx="1014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highlight>
                  <a:srgbClr val="FFFF00"/>
                </a:highlight>
              </a:rPr>
              <a:t>R package 3</a:t>
            </a:r>
            <a:endParaRPr lang="en-CA" sz="1200" b="1" dirty="0">
              <a:highlight>
                <a:srgbClr val="FFFF00"/>
              </a:highlight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7265CE-C117-CC73-C1BD-EE73D539C1CF}"/>
              </a:ext>
            </a:extLst>
          </p:cNvPr>
          <p:cNvSpPr txBox="1"/>
          <p:nvPr/>
        </p:nvSpPr>
        <p:spPr>
          <a:xfrm>
            <a:off x="4568722" y="4982595"/>
            <a:ext cx="1014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highlight>
                  <a:srgbClr val="FFFF00"/>
                </a:highlight>
              </a:rPr>
              <a:t>R package 4</a:t>
            </a:r>
            <a:endParaRPr lang="en-CA" sz="1200" b="1" dirty="0">
              <a:highlight>
                <a:srgbClr val="FFFF00"/>
              </a:highlight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E3DBFD-679C-5AC5-45D1-38DA0BE79948}"/>
              </a:ext>
            </a:extLst>
          </p:cNvPr>
          <p:cNvSpPr txBox="1"/>
          <p:nvPr/>
        </p:nvSpPr>
        <p:spPr>
          <a:xfrm>
            <a:off x="4043173" y="5259594"/>
            <a:ext cx="206535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(zBMI_24m)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K-Means clustering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PAM clustering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Hierarchical clustering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C6521A-1360-F48E-F238-085DA83799B2}"/>
              </a:ext>
            </a:extLst>
          </p:cNvPr>
          <p:cNvSpPr txBox="1"/>
          <p:nvPr/>
        </p:nvSpPr>
        <p:spPr>
          <a:xfrm>
            <a:off x="6947956" y="2027940"/>
            <a:ext cx="1014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highlight>
                  <a:srgbClr val="FFFF00"/>
                </a:highlight>
              </a:rPr>
              <a:t>R package 5</a:t>
            </a:r>
            <a:endParaRPr lang="en-CA" sz="1200" b="1" dirty="0">
              <a:highlight>
                <a:srgbClr val="FFFF00"/>
              </a:highlight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286BE8-14B5-8F3B-1F67-0ED76D921F41}"/>
              </a:ext>
            </a:extLst>
          </p:cNvPr>
          <p:cNvSpPr txBox="1"/>
          <p:nvPr/>
        </p:nvSpPr>
        <p:spPr>
          <a:xfrm>
            <a:off x="6498033" y="2304939"/>
            <a:ext cx="18710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1400" dirty="0"/>
              <a:t>(zBMI_24m)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Internal validation</a:t>
            </a:r>
          </a:p>
        </p:txBody>
      </p:sp>
    </p:spTree>
    <p:extLst>
      <p:ext uri="{BB962C8B-B14F-4D97-AF65-F5344CB8AC3E}">
        <p14:creationId xmlns:p14="http://schemas.microsoft.com/office/powerpoint/2010/main" val="3191379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FF7244B-594C-671C-A74F-BE5A6BCC02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549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D4814AC-7CD3-A07B-AF39-FD213B859C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037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B8F188-0D54-5C83-835F-5CF69C59C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441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C203F-07CA-F4BF-8D18-75AE769CB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D139296-27CF-18D1-D227-F273C1031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54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7BE85-6AA9-E566-6EA3-7A7C7C693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40ABAF-CD70-0096-375B-CB52769E3FE2}"/>
              </a:ext>
            </a:extLst>
          </p:cNvPr>
          <p:cNvSpPr txBox="1"/>
          <p:nvPr/>
        </p:nvSpPr>
        <p:spPr>
          <a:xfrm>
            <a:off x="1251883" y="0"/>
            <a:ext cx="9688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Preprocessing Section:  Identifying and removing implausible values</a:t>
            </a:r>
            <a:endParaRPr lang="en-CA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9B3C6-C9BD-E46E-8BA5-288E683938D1}"/>
              </a:ext>
            </a:extLst>
          </p:cNvPr>
          <p:cNvSpPr txBox="1"/>
          <p:nvPr/>
        </p:nvSpPr>
        <p:spPr>
          <a:xfrm>
            <a:off x="1126160" y="1401387"/>
            <a:ext cx="9939673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arenR"/>
            </a:pPr>
            <a:r>
              <a:rPr lang="en-US" sz="2000" b="1" dirty="0"/>
              <a:t>Implausible age values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Implausible age values: </a:t>
            </a:r>
            <a:r>
              <a:rPr lang="en-CA" sz="2000" dirty="0">
                <a:solidFill>
                  <a:srgbClr val="FF0000"/>
                </a:solidFill>
              </a:rPr>
              <a:t>4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ID: 83, 144, 179, 192</a:t>
            </a:r>
          </a:p>
          <a:p>
            <a:pPr marL="342900" indent="-342900">
              <a:buAutoNum type="arabicParenR"/>
            </a:pPr>
            <a:endParaRPr lang="en-US" sz="2000" dirty="0"/>
          </a:p>
          <a:p>
            <a:pPr marL="342900" indent="-342900">
              <a:buAutoNum type="arabicParenR"/>
            </a:pPr>
            <a:r>
              <a:rPr lang="en-US" sz="2000" b="1" dirty="0"/>
              <a:t>WHO-style plausibility cut-offs for zBMI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Implausible zBMI values: </a:t>
            </a:r>
            <a:r>
              <a:rPr lang="en-CA" sz="2000" dirty="0">
                <a:solidFill>
                  <a:srgbClr val="FF0000"/>
                </a:solidFill>
              </a:rPr>
              <a:t>1</a:t>
            </a:r>
            <a:r>
              <a:rPr lang="en-CA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ID: 294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AutoNum type="arabicParenR"/>
            </a:pPr>
            <a:r>
              <a:rPr lang="fr-FR" sz="2000" b="1" dirty="0"/>
              <a:t>Extreme CRP values (possible acute infection)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Implausible CRP values: </a:t>
            </a:r>
            <a:r>
              <a:rPr lang="en-CA" sz="2000" dirty="0">
                <a:solidFill>
                  <a:srgbClr val="FF0000"/>
                </a:solidFill>
              </a:rPr>
              <a:t>0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CA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877B5-DD63-7624-64F9-19D52F99CA3C}"/>
              </a:ext>
            </a:extLst>
          </p:cNvPr>
          <p:cNvSpPr txBox="1"/>
          <p:nvPr/>
        </p:nvSpPr>
        <p:spPr>
          <a:xfrm>
            <a:off x="4276364" y="4879262"/>
            <a:ext cx="3639266" cy="83099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Original sample size = 300</a:t>
            </a:r>
          </a:p>
          <a:p>
            <a:pPr algn="ctr"/>
            <a:r>
              <a:rPr lang="en-US" sz="2400" dirty="0"/>
              <a:t>After cleaning = 295</a:t>
            </a:r>
            <a:endParaRPr lang="en-CA" sz="2400" dirty="0"/>
          </a:p>
        </p:txBody>
      </p:sp>
    </p:spTree>
    <p:extLst>
      <p:ext uri="{BB962C8B-B14F-4D97-AF65-F5344CB8AC3E}">
        <p14:creationId xmlns:p14="http://schemas.microsoft.com/office/powerpoint/2010/main" val="3737515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EB4D-2B9C-EB0D-9F8B-5D5E266BD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8E8A71-3038-0D74-2292-4413FE5EB83B}"/>
              </a:ext>
            </a:extLst>
          </p:cNvPr>
          <p:cNvSpPr txBox="1"/>
          <p:nvPr/>
        </p:nvSpPr>
        <p:spPr>
          <a:xfrm>
            <a:off x="2558204" y="0"/>
            <a:ext cx="7075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Assessing Clustering Tendency: NBClust Analysis</a:t>
            </a:r>
            <a:endParaRPr lang="en-CA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51CBF5-7D49-D317-0E58-36C108454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3044" y="1948946"/>
            <a:ext cx="7885912" cy="296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664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F2742-C4F7-DA35-A7E6-97E62E6FB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381205F-56C0-F252-7FD8-7DF2CC739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1474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7DDEB-6952-2EE9-F53B-FF7BB3A4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634C61B-2C25-2F88-647E-27D6CBDE4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67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9F52-6C50-08D1-BDAC-9BF5E3015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B7D02DA-1A06-3702-CF7B-D9D467F078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918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8A3E1-BE72-F09A-7EFE-37F6FD4C2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3AB0C2E-7B66-6535-A967-6EF94E370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4034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03FBE-9B4B-7C1F-CC7B-D8E8BF005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0330F-80A6-6688-CE35-9A75C2C79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901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4318E-5030-E3DA-AE2C-D21585480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FAE7818-2896-FA0A-86C8-3C7438379A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534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6BC26-8A90-8426-262E-75EA8A96C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3AA18CD-084A-74D0-3711-7401E840E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172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6670A-C324-784B-17F0-3417044B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81FD8-4ECB-A5A3-6FA9-5CE1AC1CDC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551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D9857-E67F-C7B2-FAEB-88FCA928C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68BE562-5512-0C2F-EF4B-E04C9E246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872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9ACBF-A99C-9B75-E65A-E846AF191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6CFCC47-7469-017A-8814-25007FC96C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1045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60117-9C9E-1FF9-3B7C-6F4383CDC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353341-FCA5-00E4-6F8C-BA6F76C23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2701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C46A8-E928-CBC9-6153-19CF95D6E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2D24CD0-AF93-5306-2E49-367393111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83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66AA8-CACE-458D-7131-94FFE0582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F1BE758-1FB6-BD00-91BC-FA2AFA89E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562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CDA1FA-E216-8CD5-5BAE-9730935C1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3820"/>
            <a:ext cx="12192000" cy="607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7489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B903-413A-C25A-B5ED-3FC30FE29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7E6158-D660-79D7-8B12-BE61CF9BD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4072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9A8B7-D046-2D62-406C-5246723AE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710E7A-5E2F-9045-C394-5D580471C8F0}"/>
              </a:ext>
            </a:extLst>
          </p:cNvPr>
          <p:cNvSpPr txBox="1"/>
          <p:nvPr/>
        </p:nvSpPr>
        <p:spPr>
          <a:xfrm>
            <a:off x="2634063" y="0"/>
            <a:ext cx="69515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Clustering: Growth Trajectory Clusters Summary</a:t>
            </a:r>
            <a:endParaRPr lang="en-CA" sz="2400"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185CEFC-5021-F68C-FFFA-13FEBABB2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967107"/>
              </p:ext>
            </p:extLst>
          </p:nvPr>
        </p:nvGraphicFramePr>
        <p:xfrm>
          <a:off x="801315" y="753000"/>
          <a:ext cx="10589368" cy="4652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7342">
                  <a:extLst>
                    <a:ext uri="{9D8B030D-6E8A-4147-A177-3AD203B41FA5}">
                      <a16:colId xmlns:a16="http://schemas.microsoft.com/office/drawing/2014/main" val="2209632836"/>
                    </a:ext>
                  </a:extLst>
                </a:gridCol>
                <a:gridCol w="2647342">
                  <a:extLst>
                    <a:ext uri="{9D8B030D-6E8A-4147-A177-3AD203B41FA5}">
                      <a16:colId xmlns:a16="http://schemas.microsoft.com/office/drawing/2014/main" val="1820609222"/>
                    </a:ext>
                  </a:extLst>
                </a:gridCol>
                <a:gridCol w="2647342">
                  <a:extLst>
                    <a:ext uri="{9D8B030D-6E8A-4147-A177-3AD203B41FA5}">
                      <a16:colId xmlns:a16="http://schemas.microsoft.com/office/drawing/2014/main" val="1929166714"/>
                    </a:ext>
                  </a:extLst>
                </a:gridCol>
                <a:gridCol w="2647342">
                  <a:extLst>
                    <a:ext uri="{9D8B030D-6E8A-4147-A177-3AD203B41FA5}">
                      <a16:colId xmlns:a16="http://schemas.microsoft.com/office/drawing/2014/main" val="3056882932"/>
                    </a:ext>
                  </a:extLst>
                </a:gridCol>
              </a:tblGrid>
              <a:tr h="883227">
                <a:tc>
                  <a:txBody>
                    <a:bodyPr/>
                    <a:lstStyle/>
                    <a:p>
                      <a:pPr algn="ctr"/>
                      <a:endParaRPr lang="en-CA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K-Means</a:t>
                      </a:r>
                      <a:endParaRPr lang="en-CA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Partitioning </a:t>
                      </a:r>
                    </a:p>
                    <a:p>
                      <a:pPr algn="ctr"/>
                      <a:r>
                        <a:rPr lang="en-CA" dirty="0"/>
                        <a:t>Around Medoids (PAM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</a:t>
                      </a:r>
                      <a:r>
                        <a:rPr lang="en-CA" dirty="0"/>
                        <a:t>Hierarchical Clustering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4254808"/>
                  </a:ext>
                </a:extLst>
              </a:tr>
              <a:tr h="900867">
                <a:tc>
                  <a:txBody>
                    <a:bodyPr/>
                    <a:lstStyle/>
                    <a:p>
                      <a:pPr algn="ctr"/>
                      <a:endParaRPr lang="en-CA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Tells you the average zBMI of each group</a:t>
                      </a:r>
                      <a:endParaRPr lang="en-CA" sz="16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Uses real children as cluster centers</a:t>
                      </a:r>
                      <a:endParaRPr lang="en-CA" sz="16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A tree (dendrogram) showing how children are progressively grouped together</a:t>
                      </a:r>
                      <a:endParaRPr lang="en-CA" sz="16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3716885"/>
                  </a:ext>
                </a:extLst>
              </a:tr>
              <a:tr h="900867"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/>
                        <a:t># of children</a:t>
                      </a:r>
                      <a:endParaRPr lang="en-CA" sz="1600" i="1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Cluster 1 = </a:t>
                      </a:r>
                      <a:r>
                        <a:rPr lang="en-CA" sz="1600" dirty="0"/>
                        <a:t>119 </a:t>
                      </a:r>
                      <a:endParaRPr lang="en-US" sz="1600" dirty="0"/>
                    </a:p>
                    <a:p>
                      <a:pPr algn="ctr"/>
                      <a:r>
                        <a:rPr lang="en-US" sz="1600" dirty="0"/>
                        <a:t>Cluster 2 = 102</a:t>
                      </a:r>
                    </a:p>
                    <a:p>
                      <a:pPr algn="ctr"/>
                      <a:r>
                        <a:rPr lang="en-US" sz="1600" dirty="0"/>
                        <a:t>Cluster 3 = 74</a:t>
                      </a:r>
                      <a:endParaRPr lang="en-CA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Cluster 1 = </a:t>
                      </a:r>
                      <a:r>
                        <a:rPr lang="en-CA" sz="1600" dirty="0"/>
                        <a:t>104 </a:t>
                      </a:r>
                      <a:endParaRPr lang="en-US" sz="1600" dirty="0"/>
                    </a:p>
                    <a:p>
                      <a:pPr algn="ctr"/>
                      <a:r>
                        <a:rPr lang="en-US" sz="1600" dirty="0"/>
                        <a:t>Cluster 2 = 112</a:t>
                      </a:r>
                    </a:p>
                    <a:p>
                      <a:pPr algn="ctr"/>
                      <a:r>
                        <a:rPr lang="en-US" sz="1600" dirty="0"/>
                        <a:t>Cluster 3 = 79</a:t>
                      </a:r>
                      <a:endParaRPr lang="en-CA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Cluster 1 = </a:t>
                      </a:r>
                      <a:r>
                        <a:rPr lang="en-CA" sz="1600" dirty="0"/>
                        <a:t>72 </a:t>
                      </a:r>
                      <a:endParaRPr lang="en-US" sz="1600" dirty="0"/>
                    </a:p>
                    <a:p>
                      <a:pPr algn="ctr"/>
                      <a:r>
                        <a:rPr lang="en-US" sz="1600" dirty="0"/>
                        <a:t>Cluster 2 = 174</a:t>
                      </a:r>
                    </a:p>
                    <a:p>
                      <a:pPr algn="ctr"/>
                      <a:r>
                        <a:rPr lang="en-US" sz="1600" dirty="0"/>
                        <a:t>Cluster 3 = 49</a:t>
                      </a:r>
                      <a:endParaRPr lang="en-CA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731508"/>
                  </a:ext>
                </a:extLst>
              </a:tr>
              <a:tr h="900867"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/>
                        <a:t>Mean zBMI</a:t>
                      </a:r>
                      <a:endParaRPr lang="en-CA" sz="1600" i="1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Cluster 1 = </a:t>
                      </a:r>
                      <a:r>
                        <a:rPr lang="en-CA" sz="1600" dirty="0"/>
                        <a:t>0.045 </a:t>
                      </a:r>
                      <a:endParaRPr lang="en-US" sz="1600" dirty="0"/>
                    </a:p>
                    <a:p>
                      <a:pPr algn="ctr"/>
                      <a:r>
                        <a:rPr lang="en-US" sz="1600" dirty="0"/>
                        <a:t>Cluster 2 = -1.032</a:t>
                      </a:r>
                    </a:p>
                    <a:p>
                      <a:pPr algn="ctr"/>
                      <a:r>
                        <a:rPr lang="en-US" sz="1600" dirty="0"/>
                        <a:t>Cluster 3 = 1.350</a:t>
                      </a:r>
                      <a:endParaRPr lang="en-CA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Cluster 1 = </a:t>
                      </a:r>
                      <a:r>
                        <a:rPr lang="en-CA" sz="1600" dirty="0"/>
                        <a:t>0.063 (ID 38)</a:t>
                      </a:r>
                      <a:endParaRPr lang="en-US" sz="1600" dirty="0"/>
                    </a:p>
                    <a:p>
                      <a:pPr algn="ctr"/>
                      <a:r>
                        <a:rPr lang="en-US" sz="1600" dirty="0"/>
                        <a:t>Cluster 2 = -0.852 (ID 175)</a:t>
                      </a:r>
                    </a:p>
                    <a:p>
                      <a:pPr algn="ctr"/>
                      <a:r>
                        <a:rPr lang="en-US" sz="1600" dirty="0"/>
                        <a:t>Cluster 3 = </a:t>
                      </a:r>
                      <a:r>
                        <a:rPr lang="en-CA" sz="1600" dirty="0"/>
                        <a:t>1.186 (ID 101)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16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10403"/>
                  </a:ext>
                </a:extLst>
              </a:tr>
              <a:tr h="900867"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/>
                        <a:t>Raw Interpretation</a:t>
                      </a:r>
                      <a:endParaRPr lang="en-CA" sz="1600" i="1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Cluster 1 = normal growth (~ 0 mean)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Cluster 2 = lower growth (~ -1 mean)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Cluster 1 = higher growth (~ +1.4 mean)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CA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16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755621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1F47FB5-D874-DA15-6257-715F4350E2CD}"/>
              </a:ext>
            </a:extLst>
          </p:cNvPr>
          <p:cNvSpPr txBox="1"/>
          <p:nvPr/>
        </p:nvSpPr>
        <p:spPr>
          <a:xfrm>
            <a:off x="3449783" y="5631875"/>
            <a:ext cx="53201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highlight>
                  <a:srgbClr val="FFFF00"/>
                </a:highlight>
              </a:rPr>
              <a:t>K-Means and PAM demonstrate that k=3 </a:t>
            </a:r>
          </a:p>
          <a:p>
            <a:pPr algn="ctr"/>
            <a:r>
              <a:rPr lang="en-US" sz="2000" dirty="0">
                <a:highlight>
                  <a:srgbClr val="FFFF00"/>
                </a:highlight>
              </a:rPr>
              <a:t>is a robust and valid solution for zBMI_24m</a:t>
            </a:r>
            <a:endParaRPr lang="en-CA" sz="20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107272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FD92F-0683-D25B-B68B-6BB7ED64A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85D62A8-DB25-B242-199F-AD575E1C5D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CDF5DB5-1618-5BB5-FC22-57152B631CBB}"/>
              </a:ext>
            </a:extLst>
          </p:cNvPr>
          <p:cNvSpPr/>
          <p:nvPr/>
        </p:nvSpPr>
        <p:spPr>
          <a:xfrm>
            <a:off x="592282" y="2452255"/>
            <a:ext cx="238991" cy="8520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1B9EA-0E7E-C53B-3F57-9A695DAAB6A4}"/>
              </a:ext>
            </a:extLst>
          </p:cNvPr>
          <p:cNvSpPr txBox="1"/>
          <p:nvPr/>
        </p:nvSpPr>
        <p:spPr>
          <a:xfrm>
            <a:off x="509154" y="1995054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Lower the better</a:t>
            </a:r>
            <a:endParaRPr lang="en-CA" sz="1100" dirty="0">
              <a:solidFill>
                <a:srgbClr val="FF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A14515-5FB6-99ED-EE74-795710C1A0D3}"/>
              </a:ext>
            </a:extLst>
          </p:cNvPr>
          <p:cNvSpPr/>
          <p:nvPr/>
        </p:nvSpPr>
        <p:spPr>
          <a:xfrm>
            <a:off x="9192492" y="640773"/>
            <a:ext cx="238991" cy="26635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FC9E7E-17DB-7E70-3F17-D454570DE710}"/>
              </a:ext>
            </a:extLst>
          </p:cNvPr>
          <p:cNvSpPr txBox="1"/>
          <p:nvPr/>
        </p:nvSpPr>
        <p:spPr>
          <a:xfrm>
            <a:off x="9421092" y="935996"/>
            <a:ext cx="12025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Higher the better</a:t>
            </a:r>
            <a:endParaRPr lang="en-CA" sz="11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C61ED5-D994-B9B1-ED81-161DD442AE8A}"/>
              </a:ext>
            </a:extLst>
          </p:cNvPr>
          <p:cNvSpPr txBox="1"/>
          <p:nvPr/>
        </p:nvSpPr>
        <p:spPr>
          <a:xfrm>
            <a:off x="1079983" y="3841513"/>
            <a:ext cx="12025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Higher the better</a:t>
            </a:r>
            <a:endParaRPr lang="en-CA" sz="1100" dirty="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29EB32-A179-DC6F-2416-3F6DD31E104C}"/>
              </a:ext>
            </a:extLst>
          </p:cNvPr>
          <p:cNvSpPr/>
          <p:nvPr/>
        </p:nvSpPr>
        <p:spPr>
          <a:xfrm>
            <a:off x="592282" y="3810340"/>
            <a:ext cx="238991" cy="26635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8CB77E-C754-4B7B-04F8-E108718138C7}"/>
              </a:ext>
            </a:extLst>
          </p:cNvPr>
          <p:cNvSpPr txBox="1"/>
          <p:nvPr/>
        </p:nvSpPr>
        <p:spPr>
          <a:xfrm>
            <a:off x="7320961" y="4202790"/>
            <a:ext cx="398205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Connectivity</a:t>
            </a:r>
            <a:r>
              <a:rPr lang="en-US" dirty="0"/>
              <a:t> = hierarchical wins; k = 2</a:t>
            </a:r>
          </a:p>
          <a:p>
            <a:endParaRPr lang="en-US" dirty="0"/>
          </a:p>
          <a:p>
            <a:r>
              <a:rPr lang="en-US" b="1" dirty="0"/>
              <a:t>Dunn</a:t>
            </a:r>
            <a:r>
              <a:rPr lang="en-US" dirty="0"/>
              <a:t> = hierarchical wins; k = 4</a:t>
            </a:r>
          </a:p>
          <a:p>
            <a:endParaRPr lang="en-US" dirty="0"/>
          </a:p>
          <a:p>
            <a:r>
              <a:rPr lang="en-US" b="1" dirty="0"/>
              <a:t>Silhouette</a:t>
            </a:r>
            <a:r>
              <a:rPr lang="en-US" dirty="0"/>
              <a:t> = hierarchical wins; k = 2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37356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40BBF-692E-84C3-F51E-544EEFF62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FF0D61-E7ED-0731-29DA-DBB2C312118A}"/>
              </a:ext>
            </a:extLst>
          </p:cNvPr>
          <p:cNvSpPr txBox="1"/>
          <p:nvPr/>
        </p:nvSpPr>
        <p:spPr>
          <a:xfrm>
            <a:off x="4009947" y="0"/>
            <a:ext cx="41721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Internal Validation Summary</a:t>
            </a:r>
            <a:endParaRPr lang="en-CA" sz="2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E04E8C-9225-AD9D-3BA4-9AF79959B2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077" y="631630"/>
            <a:ext cx="5918721" cy="31648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226A3A-2576-17EE-1688-9AB27AC96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077" y="3931523"/>
            <a:ext cx="3519434" cy="98746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7DF0E91-0E10-B8F0-C38F-9DDD6576A73D}"/>
              </a:ext>
            </a:extLst>
          </p:cNvPr>
          <p:cNvSpPr/>
          <p:nvPr/>
        </p:nvSpPr>
        <p:spPr>
          <a:xfrm>
            <a:off x="532077" y="3858787"/>
            <a:ext cx="3519434" cy="112254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6256F3-4FDF-5186-92AD-3F87BEB6DE32}"/>
              </a:ext>
            </a:extLst>
          </p:cNvPr>
          <p:cNvSpPr txBox="1"/>
          <p:nvPr/>
        </p:nvSpPr>
        <p:spPr>
          <a:xfrm>
            <a:off x="5361707" y="4150621"/>
            <a:ext cx="66813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Internal validation shows that </a:t>
            </a:r>
            <a:r>
              <a:rPr lang="en-CA" b="1" dirty="0"/>
              <a:t>Hierarchical Method </a:t>
            </a:r>
            <a:r>
              <a:rPr lang="en-CA" dirty="0"/>
              <a:t>at </a:t>
            </a:r>
            <a:r>
              <a:rPr lang="en-CA" b="1" dirty="0"/>
              <a:t>2 clusters (k = 2) </a:t>
            </a:r>
            <a:r>
              <a:rPr lang="en-CA" dirty="0"/>
              <a:t>produces the best results </a:t>
            </a:r>
            <a:r>
              <a:rPr lang="en-CA" u="sng" dirty="0"/>
              <a:t>mathematically</a:t>
            </a:r>
            <a:r>
              <a:rPr lang="en-CA" dirty="0"/>
              <a:t>. 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D10324C-6024-FE8B-C222-5219185EF662}"/>
              </a:ext>
            </a:extLst>
          </p:cNvPr>
          <p:cNvSpPr/>
          <p:nvPr/>
        </p:nvSpPr>
        <p:spPr>
          <a:xfrm>
            <a:off x="4291445" y="4420060"/>
            <a:ext cx="904010" cy="10745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AB14F-5C12-E72A-129F-162B4F5173A6}"/>
              </a:ext>
            </a:extLst>
          </p:cNvPr>
          <p:cNvSpPr txBox="1"/>
          <p:nvPr/>
        </p:nvSpPr>
        <p:spPr>
          <a:xfrm>
            <a:off x="319724" y="5420571"/>
            <a:ext cx="11552550" cy="101566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highlight>
                  <a:srgbClr val="FFFF00"/>
                </a:highlight>
              </a:rPr>
              <a:t>However, it’s </a:t>
            </a:r>
            <a:r>
              <a:rPr lang="en-US" sz="2000" u="sng" dirty="0">
                <a:highlight>
                  <a:srgbClr val="FFFF00"/>
                </a:highlight>
              </a:rPr>
              <a:t>biologically</a:t>
            </a:r>
            <a:r>
              <a:rPr lang="en-US" sz="2000" dirty="0">
                <a:highlight>
                  <a:srgbClr val="FFFF00"/>
                </a:highlight>
              </a:rPr>
              <a:t> meaningful to have </a:t>
            </a:r>
            <a:r>
              <a:rPr lang="en-US" sz="2000" b="1" dirty="0">
                <a:highlight>
                  <a:srgbClr val="FFFF00"/>
                </a:highlight>
              </a:rPr>
              <a:t>3 clusters (k = 3)</a:t>
            </a:r>
            <a:r>
              <a:rPr lang="en-US" sz="2000" dirty="0">
                <a:highlight>
                  <a:srgbClr val="FFFF00"/>
                </a:highlight>
              </a:rPr>
              <a:t>, which captures the growth </a:t>
            </a:r>
            <a:r>
              <a:rPr lang="en-CA" sz="2000" dirty="0">
                <a:highlight>
                  <a:srgbClr val="FFFF00"/>
                </a:highlight>
              </a:rPr>
              <a:t>heterogeneity</a:t>
            </a:r>
            <a:r>
              <a:rPr lang="en-US" sz="2000" dirty="0">
                <a:highlight>
                  <a:srgbClr val="FFFF00"/>
                </a:highlight>
              </a:rPr>
              <a:t>. </a:t>
            </a:r>
          </a:p>
          <a:p>
            <a:pPr algn="ctr"/>
            <a:endParaRPr lang="en-US" sz="2000" dirty="0">
              <a:highlight>
                <a:srgbClr val="FFFF00"/>
              </a:highlight>
            </a:endParaRPr>
          </a:p>
          <a:p>
            <a:pPr algn="ctr"/>
            <a:r>
              <a:rPr lang="en-US" sz="2000" b="1" dirty="0">
                <a:highlight>
                  <a:srgbClr val="FFFF00"/>
                </a:highlight>
              </a:rPr>
              <a:t>K-Means</a:t>
            </a:r>
            <a:r>
              <a:rPr lang="en-US" sz="2000" dirty="0">
                <a:highlight>
                  <a:srgbClr val="FFFF00"/>
                </a:highlight>
              </a:rPr>
              <a:t>, therefore, is the right choice for our research question</a:t>
            </a:r>
          </a:p>
        </p:txBody>
      </p:sp>
    </p:spTree>
    <p:extLst>
      <p:ext uri="{BB962C8B-B14F-4D97-AF65-F5344CB8AC3E}">
        <p14:creationId xmlns:p14="http://schemas.microsoft.com/office/powerpoint/2010/main" val="30909707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</TotalTime>
  <Words>785</Words>
  <Application>Microsoft Office PowerPoint</Application>
  <PresentationFormat>Widescreen</PresentationFormat>
  <Paragraphs>159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Yue-Tong Chen</dc:creator>
  <cp:lastModifiedBy>Yue-Tong Chen</cp:lastModifiedBy>
  <cp:revision>359</cp:revision>
  <dcterms:created xsi:type="dcterms:W3CDTF">2026-03-24T15:41:42Z</dcterms:created>
  <dcterms:modified xsi:type="dcterms:W3CDTF">2026-04-05T17:00:39Z</dcterms:modified>
</cp:coreProperties>
</file>