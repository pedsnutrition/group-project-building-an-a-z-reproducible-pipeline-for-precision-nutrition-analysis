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1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4" r:id="rId24"/>
    <p:sldId id="301" r:id="rId25"/>
    <p:sldId id="305" r:id="rId26"/>
    <p:sldId id="3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89935" autoAdjust="0"/>
  </p:normalViewPr>
  <p:slideViewPr>
    <p:cSldViewPr snapToGrid="0">
      <p:cViewPr varScale="1">
        <p:scale>
          <a:sx n="96" d="100"/>
          <a:sy n="96" d="100"/>
        </p:scale>
        <p:origin x="4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E3B6A-1818-454F-B66A-F376DC516B39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A6D2D-805E-47CF-8770-EC0B19399A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93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Flow Brief Outline with R Packages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741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1. Visual inspection of missing data </a:t>
            </a:r>
          </a:p>
          <a:p>
            <a:r>
              <a:rPr lang="en-US" dirty="0"/>
              <a:t>R package Line 38 (modified to fit in the frame)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01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2. Missingness combinations</a:t>
            </a:r>
          </a:p>
          <a:p>
            <a:r>
              <a:rPr lang="en-US" dirty="0"/>
              <a:t>R package Line 41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797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3. Distribution of zBMI at 24 months</a:t>
            </a:r>
          </a:p>
          <a:p>
            <a:r>
              <a:rPr lang="en-US" dirty="0"/>
              <a:t>R package Line 55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44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4. Distribution of CRP log transformed</a:t>
            </a:r>
          </a:p>
          <a:p>
            <a:r>
              <a:rPr lang="en-US" dirty="0"/>
              <a:t>R package Line 65 (modified to handle 11 negative values; changed to N/A if negative)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602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package Lines 91 to 132 (modified to visualize the data and keep the codes consistent for cleaning)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9757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package Line 183</a:t>
            </a:r>
          </a:p>
          <a:p>
            <a:r>
              <a:rPr lang="en-US" dirty="0"/>
              <a:t>Optimal K = 3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5107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5. NBClust voting results</a:t>
            </a:r>
          </a:p>
          <a:p>
            <a:r>
              <a:rPr lang="en-US" dirty="0"/>
              <a:t>R package Line 211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01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6. Elbow method for number of clusters results</a:t>
            </a:r>
          </a:p>
          <a:p>
            <a:r>
              <a:rPr lang="en-US" dirty="0"/>
              <a:t>R package Line 247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4892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7. Silhouette Analysis for number of clusters results</a:t>
            </a:r>
          </a:p>
          <a:p>
            <a:r>
              <a:rPr lang="en-US" dirty="0"/>
              <a:t>R package Line 284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859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8. Comparison of different numbers of clusters</a:t>
            </a:r>
          </a:p>
          <a:p>
            <a:r>
              <a:rPr lang="en-US" dirty="0"/>
              <a:t>R package Line 345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7130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9. Index heatmap </a:t>
            </a:r>
          </a:p>
          <a:p>
            <a:r>
              <a:rPr lang="en-US" dirty="0"/>
              <a:t>R package Line 367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4382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10. Summary of optimal number of clusters</a:t>
            </a:r>
          </a:p>
          <a:p>
            <a:r>
              <a:rPr lang="en-US" dirty="0"/>
              <a:t>R package Line 396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8896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11. Euclidean distance raw results</a:t>
            </a:r>
          </a:p>
          <a:p>
            <a:r>
              <a:rPr lang="en-US" dirty="0"/>
              <a:t>R package Line 446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468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12. Manhattan distance raw results</a:t>
            </a:r>
          </a:p>
          <a:p>
            <a:r>
              <a:rPr lang="en-US" dirty="0"/>
              <a:t>R package Line 447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5398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13. Standardized data vs. raw data of Euclidean Distance</a:t>
            </a:r>
          </a:p>
          <a:p>
            <a:r>
              <a:rPr lang="en-US" dirty="0"/>
              <a:t>R package Line 461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041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14. K-means clustering of zBMI_24m (Boxplot)</a:t>
            </a:r>
          </a:p>
          <a:p>
            <a:r>
              <a:rPr lang="en-US" dirty="0"/>
              <a:t>R package Line 536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578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15. PAM clustering of zBMI_24m (Boxplot)</a:t>
            </a:r>
          </a:p>
          <a:p>
            <a:r>
              <a:rPr lang="en-US" dirty="0"/>
              <a:t>R package Line 569</a:t>
            </a:r>
          </a:p>
          <a:p>
            <a:r>
              <a:rPr lang="en-CA" dirty="0"/>
              <a:t>Line 581 is added “table(</a:t>
            </a:r>
            <a:r>
              <a:rPr lang="en-CA" dirty="0" err="1"/>
              <a:t>pam.res$clustering</a:t>
            </a:r>
            <a:r>
              <a:rPr lang="en-CA" dirty="0"/>
              <a:t>)” to visualize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262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16. Hierarchical cluster dendrogram of zBMI_24m </a:t>
            </a:r>
          </a:p>
          <a:p>
            <a:r>
              <a:rPr lang="en-US" dirty="0"/>
              <a:t>R package Line 594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8641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17. Hierarchical cluster dendrogram of zBMI_24m (colored)</a:t>
            </a:r>
          </a:p>
          <a:p>
            <a:r>
              <a:rPr lang="en-US" dirty="0"/>
              <a:t>R package Line 606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299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18. Hierarchical cluster circular dendrogram of zBMI_24m </a:t>
            </a:r>
          </a:p>
          <a:p>
            <a:r>
              <a:rPr lang="en-US" dirty="0"/>
              <a:t>R package Line 618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927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19. Hierarchical cluster phylogenic tree of zBMI_24m </a:t>
            </a:r>
          </a:p>
          <a:p>
            <a:r>
              <a:rPr lang="en-US" dirty="0"/>
              <a:t>R package Line 629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1980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clusters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51077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 20. Internal validation of zBMI_24m clusters (black = hierarchical, red = k-means, green = PAM)</a:t>
            </a:r>
          </a:p>
          <a:p>
            <a:r>
              <a:rPr lang="en-US" dirty="0"/>
              <a:t>R package Line 682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8968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3A11-C406-950B-C44C-B6C14BCA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1020D-8590-5423-334E-E7D9C648D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AE48B-12B9-740E-B993-C2392F021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C7C13-4D1A-5892-75D6-6494C8EA9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5441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package Line 700 onwards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284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EDB5-15B8-120E-A91B-7BEBDC19F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7CBA7-8AD4-CAC3-6BBF-4B5A4FC3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C966-2BBA-9B97-B304-9E1EE8C0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BF215-D58C-7EFC-EFC3-3DCA9B51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795A-BBB1-984D-A161-D25C6B78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6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EC11-B672-C162-A611-22E8191B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AF63-C712-1A28-E77A-AE5A50571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8B7F-1846-A487-3FC7-25CA2F00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6DE9E-2324-26D8-C467-CE2E4849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08743-B50A-0968-2233-ABF910B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16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2B71-1440-A2AB-1BA0-ACE5F63C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206D-3E3B-8525-3C37-B008964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1193-12B0-201D-59C3-1B4D618E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0099-A14F-CBED-6764-3834E871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E0FCA-C9E6-EDEC-AE55-567A92F5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69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FE96-B628-A248-CE8D-EE44F32B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7133-8661-360A-7B02-44D162EC7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1AB2-FACA-E48E-F72E-51238127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E8CA7-71A1-C360-B9BC-9575D99C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F948-3C5E-5213-E89D-AC49CC84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B6C14-6B47-3598-522B-3CCD39FE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649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5599-20FA-4DAF-6C6C-7231A26A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21B9A-5840-3CD0-621A-6F7ACE847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45CE0-20C8-80B8-5E8D-9BE86034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B3EA5-440B-F2B1-C30E-5B0F09062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1BC88-E2EF-D08E-268A-1B26B8AB3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31F12-F153-CDA3-A37A-35C8A683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9D55E-ECC1-BE24-7B94-831FFA67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9B1E0-AD73-2F51-8FAA-33DB89A0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05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8FBC-0C37-74F6-F12A-B93C17CC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E990D-0D15-21FB-6F1B-7B883FDB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77C9B-91C5-697C-F43B-341622A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79A0-FFF8-EB6C-2BE3-B55B7E09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01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A180D-081C-A832-86A9-E4E5DF5A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FBF73-AC38-E75A-B42D-DFED81E2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23B2-9C3D-A9ED-3623-1FE8AA70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50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00F9-4DDC-80DF-5326-255E350C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4C5A-C821-7265-A076-BFA249A2F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B9F9E-FBD5-B147-E885-59C10BF73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3FB52-455F-BB5E-E57E-82A38049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9A7E3-CA30-114E-BC56-57131949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C4179-BDA9-3ED8-A396-E6D33EF9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80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3F73-44C3-B89E-AD9A-9AD7DAD2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F1EF1-E567-1E1E-7C87-341A2643C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B0A9F-21EA-CAEF-811C-D69D7A5C9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EF491-707B-118A-596F-7B7F4DC4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7678A-1532-07BB-2E44-55058F24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80155-6A04-FE7E-D599-31FEF6D9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60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BDBA-0446-F8FB-922C-02B8C45D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E3230-982F-7168-5822-578E93056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AFBC5-7E47-9773-15D1-A20B65CE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78EF2-38B7-964F-E884-A2C7F491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44A36-2B36-9C2D-ACFE-74C5114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117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FD3EC-C569-4BE3-23CD-6519019D3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49482-060E-00B6-F479-2E8A414A4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F1FC5-4DFB-B91B-6251-2DF41DBF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65BC-4565-9536-F3F4-D370C2A6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CAD44-9A06-8EA5-FF06-B00AC2D3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74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96E66-E834-BE84-62E5-50C73343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7050B-A965-D12E-BF95-C7818CA3D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15D61-1493-8E8E-DD36-A83CC321A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30BC-E745-4854-B6E6-071AEEFCBC00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6907-839E-6183-3C6A-99BED4A61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3F4E-C288-2213-0863-8421B322B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36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1F4D-CE63-9F0A-1A6F-41CA3377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0B18B6-AB2E-292B-14D3-5AB433DD2C70}"/>
              </a:ext>
            </a:extLst>
          </p:cNvPr>
          <p:cNvSpPr/>
          <p:nvPr/>
        </p:nvSpPr>
        <p:spPr>
          <a:xfrm>
            <a:off x="1724484" y="332037"/>
            <a:ext cx="1886173" cy="15491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Preprocessing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E3665C-0506-79B5-E6EE-6F8FA4CE6E12}"/>
              </a:ext>
            </a:extLst>
          </p:cNvPr>
          <p:cNvSpPr/>
          <p:nvPr/>
        </p:nvSpPr>
        <p:spPr>
          <a:xfrm>
            <a:off x="4103717" y="332036"/>
            <a:ext cx="1886173" cy="1549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Unsupervised Clustering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7A6590-01EF-A7A3-5E99-A597E00465B8}"/>
              </a:ext>
            </a:extLst>
          </p:cNvPr>
          <p:cNvSpPr/>
          <p:nvPr/>
        </p:nvSpPr>
        <p:spPr>
          <a:xfrm>
            <a:off x="6482950" y="332036"/>
            <a:ext cx="1886173" cy="15491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Clusters Validation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D1190F-8F08-D5E1-9459-5807D1BBC743}"/>
              </a:ext>
            </a:extLst>
          </p:cNvPr>
          <p:cNvSpPr/>
          <p:nvPr/>
        </p:nvSpPr>
        <p:spPr>
          <a:xfrm>
            <a:off x="8862183" y="332036"/>
            <a:ext cx="1886173" cy="154910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Interpretation</a:t>
            </a:r>
            <a:endParaRPr lang="en-CA" b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1C482C-A150-0520-54BC-AEDE1F8E1152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3610657" y="1106587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EEB796-0D0F-A667-4695-0296CDFAC18B}"/>
              </a:ext>
            </a:extLst>
          </p:cNvPr>
          <p:cNvCxnSpPr/>
          <p:nvPr/>
        </p:nvCxnSpPr>
        <p:spPr>
          <a:xfrm flipV="1">
            <a:off x="5989890" y="1106586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A71ED9-4EC5-6EF7-E133-2D2D2B43BD5B}"/>
              </a:ext>
            </a:extLst>
          </p:cNvPr>
          <p:cNvCxnSpPr/>
          <p:nvPr/>
        </p:nvCxnSpPr>
        <p:spPr>
          <a:xfrm flipV="1">
            <a:off x="8369123" y="1106585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C85D61-9C96-7571-1E10-72C4081682A1}"/>
              </a:ext>
            </a:extLst>
          </p:cNvPr>
          <p:cNvSpPr txBox="1"/>
          <p:nvPr/>
        </p:nvSpPr>
        <p:spPr>
          <a:xfrm>
            <a:off x="1486989" y="2304940"/>
            <a:ext cx="2404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(All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missingness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standardization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Clean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9AC81-3F51-F94E-1BEB-133FF70E9E65}"/>
              </a:ext>
            </a:extLst>
          </p:cNvPr>
          <p:cNvSpPr txBox="1"/>
          <p:nvPr/>
        </p:nvSpPr>
        <p:spPr>
          <a:xfrm>
            <a:off x="3953586" y="2304940"/>
            <a:ext cx="224452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/>
              <a:t>(zBMI_24m)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NbClust voting for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Elbow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Silhouette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PCA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Multiple K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Index Heatmap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24439-0F37-39F4-2C00-5D0D61B97965}"/>
              </a:ext>
            </a:extLst>
          </p:cNvPr>
          <p:cNvSpPr txBox="1"/>
          <p:nvPr/>
        </p:nvSpPr>
        <p:spPr>
          <a:xfrm>
            <a:off x="3953586" y="4182377"/>
            <a:ext cx="20653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(zBMI_24m)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Euclidean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Manhattan metric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91579-CCEA-8AB9-5AD6-E677AF819898}"/>
              </a:ext>
            </a:extLst>
          </p:cNvPr>
          <p:cNvSpPr txBox="1"/>
          <p:nvPr/>
        </p:nvSpPr>
        <p:spPr>
          <a:xfrm>
            <a:off x="2189490" y="2027941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1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9433CC-758C-80F5-0C0E-A59A691B9260}"/>
              </a:ext>
            </a:extLst>
          </p:cNvPr>
          <p:cNvSpPr txBox="1"/>
          <p:nvPr/>
        </p:nvSpPr>
        <p:spPr>
          <a:xfrm>
            <a:off x="4568722" y="2027941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2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36658-8B84-A9FF-E29E-C9ECA94B8F82}"/>
              </a:ext>
            </a:extLst>
          </p:cNvPr>
          <p:cNvSpPr txBox="1"/>
          <p:nvPr/>
        </p:nvSpPr>
        <p:spPr>
          <a:xfrm>
            <a:off x="4568722" y="3905378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3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265CE-C117-CC73-C1BD-EE73D539C1CF}"/>
              </a:ext>
            </a:extLst>
          </p:cNvPr>
          <p:cNvSpPr txBox="1"/>
          <p:nvPr/>
        </p:nvSpPr>
        <p:spPr>
          <a:xfrm>
            <a:off x="4568722" y="4982595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4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3DBFD-679C-5AC5-45D1-38DA0BE79948}"/>
              </a:ext>
            </a:extLst>
          </p:cNvPr>
          <p:cNvSpPr txBox="1"/>
          <p:nvPr/>
        </p:nvSpPr>
        <p:spPr>
          <a:xfrm>
            <a:off x="4043173" y="5259594"/>
            <a:ext cx="20653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(zBMI_24m)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K-Means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PAM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Hierarchical clustering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6521A-1360-F48E-F238-085DA83799B2}"/>
              </a:ext>
            </a:extLst>
          </p:cNvPr>
          <p:cNvSpPr txBox="1"/>
          <p:nvPr/>
        </p:nvSpPr>
        <p:spPr>
          <a:xfrm>
            <a:off x="6947956" y="2027940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5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86BE8-14B5-8F3B-1F67-0ED76D921F41}"/>
              </a:ext>
            </a:extLst>
          </p:cNvPr>
          <p:cNvSpPr txBox="1"/>
          <p:nvPr/>
        </p:nvSpPr>
        <p:spPr>
          <a:xfrm>
            <a:off x="6498033" y="2304939"/>
            <a:ext cx="1871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/>
              <a:t>(zBMI_24m)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Internal validation</a:t>
            </a:r>
          </a:p>
        </p:txBody>
      </p:sp>
    </p:spTree>
    <p:extLst>
      <p:ext uri="{BB962C8B-B14F-4D97-AF65-F5344CB8AC3E}">
        <p14:creationId xmlns:p14="http://schemas.microsoft.com/office/powerpoint/2010/main" val="319137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F7244B-594C-671C-A74F-BE5A6BCC0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4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4814AC-7CD3-A07B-AF39-FD213B859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3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B8F188-0D54-5C83-835F-5CF69C59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4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203F-07CA-F4BF-8D18-75AE769C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139296-27CF-18D1-D227-F273C103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BE85-6AA9-E566-6EA3-7A7C7C69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0ABAF-CD70-0096-375B-CB52769E3FE2}"/>
              </a:ext>
            </a:extLst>
          </p:cNvPr>
          <p:cNvSpPr txBox="1"/>
          <p:nvPr/>
        </p:nvSpPr>
        <p:spPr>
          <a:xfrm>
            <a:off x="1251883" y="0"/>
            <a:ext cx="9688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Preprocessing Section:  Identifying and removing implausible values</a:t>
            </a:r>
            <a:endParaRPr lang="en-CA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9B3C6-C9BD-E46E-8BA5-288E683938D1}"/>
              </a:ext>
            </a:extLst>
          </p:cNvPr>
          <p:cNvSpPr txBox="1"/>
          <p:nvPr/>
        </p:nvSpPr>
        <p:spPr>
          <a:xfrm>
            <a:off x="1126160" y="1401387"/>
            <a:ext cx="99396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b="1" dirty="0"/>
              <a:t>Implausible age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Implausible age values: </a:t>
            </a:r>
            <a:r>
              <a:rPr lang="en-CA" sz="2000" dirty="0">
                <a:solidFill>
                  <a:srgbClr val="FF0000"/>
                </a:solidFill>
              </a:rPr>
              <a:t>4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ID: 83, 144, 179, 192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b="1" dirty="0"/>
              <a:t>WHO-style plausibility cut-offs for zBMI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Implausible zBMI values: </a:t>
            </a:r>
            <a:r>
              <a:rPr lang="en-CA" sz="2000" dirty="0">
                <a:solidFill>
                  <a:srgbClr val="FF0000"/>
                </a:solidFill>
              </a:rPr>
              <a:t>1</a:t>
            </a:r>
            <a:r>
              <a:rPr lang="en-CA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ID: 294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fr-FR" sz="2000" b="1" dirty="0"/>
              <a:t>Extreme CRP values (possible acute infection)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Implausible CRP values: </a:t>
            </a:r>
            <a:r>
              <a:rPr lang="en-CA" sz="2000" dirty="0">
                <a:solidFill>
                  <a:srgbClr val="FF0000"/>
                </a:solidFill>
              </a:rPr>
              <a:t>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877B5-DD63-7624-64F9-19D52F99CA3C}"/>
              </a:ext>
            </a:extLst>
          </p:cNvPr>
          <p:cNvSpPr txBox="1"/>
          <p:nvPr/>
        </p:nvSpPr>
        <p:spPr>
          <a:xfrm>
            <a:off x="4276364" y="4879262"/>
            <a:ext cx="3639266" cy="83099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Original sample size = 300</a:t>
            </a:r>
          </a:p>
          <a:p>
            <a:pPr algn="ctr"/>
            <a:r>
              <a:rPr lang="en-US" sz="2400" dirty="0"/>
              <a:t>After cleaning = 295</a:t>
            </a:r>
            <a:endParaRPr lang="en-CA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7BAF59-1CF0-C9D2-17D2-B993B9B8879F}"/>
              </a:ext>
            </a:extLst>
          </p:cNvPr>
          <p:cNvSpPr/>
          <p:nvPr/>
        </p:nvSpPr>
        <p:spPr>
          <a:xfrm>
            <a:off x="1126160" y="1401387"/>
            <a:ext cx="9688230" cy="4413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751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EB4D-2B9C-EB0D-9F8B-5D5E266B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E8A71-3038-0D74-2292-4413FE5EB83B}"/>
              </a:ext>
            </a:extLst>
          </p:cNvPr>
          <p:cNvSpPr txBox="1"/>
          <p:nvPr/>
        </p:nvSpPr>
        <p:spPr>
          <a:xfrm>
            <a:off x="2558204" y="0"/>
            <a:ext cx="7075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Assessing Clustering Tendency: NBClust Analysis</a:t>
            </a:r>
            <a:endParaRPr lang="en-CA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1CBF5-7D49-D317-0E58-36C10845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044" y="1948946"/>
            <a:ext cx="7885912" cy="296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2742-C4F7-DA35-A7E6-97E62E6F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81205F-56C0-F252-7FD8-7DF2CC739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4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7DDEB-6952-2EE9-F53B-FF7BB3A4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34C61B-2C25-2F88-647E-27D6CBDE4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9F52-6C50-08D1-BDAC-9BF5E301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7D02DA-1A06-3702-CF7B-D9D467F07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1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A3E1-BE72-F09A-7EFE-37F6FD4C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AB0C2E-7B66-6535-A967-6EF94E370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03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3FBE-9B4B-7C1F-CC7B-D8E8BF00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C0330F-80A6-6688-CE35-9A75C2C79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01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18E-5030-E3DA-AE2C-D21585480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AE7818-2896-FA0A-86C8-3C743837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3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6BC26-8A90-8426-262E-75EA8A96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A18CD-084A-74D0-3711-7401E840E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72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670A-C324-784B-17F0-3417044B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A81FD8-4ECB-A5A3-6FA9-5CE1AC1CD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51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9857-E67F-C7B2-FAEB-88FCA928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BE562-5512-0C2F-EF4B-E04C9E246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72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ACBF-A99C-9B75-E65A-E846AF19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CFCC47-7469-017A-8814-25007FC9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04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0117-9C9E-1FF9-3B7C-6F4383CD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353341-FCA5-00E4-6F8C-BA6F76C2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7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46A8-E928-CBC9-6153-19CF95D6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D24CD0-AF93-5306-2E49-367393111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3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6AA8-CACE-458D-7131-94FFE058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1BE758-1FB6-BD00-91BC-FA2AFA89E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6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CDA1FA-E216-8CD5-5BAE-9730935C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20"/>
            <a:ext cx="12192000" cy="60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48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B903-413A-C25A-B5ED-3FC30FE2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E6158-D660-79D7-8B12-BE61CF9B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07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9A8B7-D046-2D62-406C-5246723A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10E7A-5E2F-9045-C394-5D580471C8F0}"/>
              </a:ext>
            </a:extLst>
          </p:cNvPr>
          <p:cNvSpPr txBox="1"/>
          <p:nvPr/>
        </p:nvSpPr>
        <p:spPr>
          <a:xfrm>
            <a:off x="2634063" y="0"/>
            <a:ext cx="6951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Clustering: Growth Trajectory Clusters Summary</a:t>
            </a:r>
            <a:endParaRPr lang="en-CA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85CEFC-5021-F68C-FFFA-13FEBABB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23572"/>
              </p:ext>
            </p:extLst>
          </p:nvPr>
        </p:nvGraphicFramePr>
        <p:xfrm>
          <a:off x="801316" y="803422"/>
          <a:ext cx="10589368" cy="4486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342">
                  <a:extLst>
                    <a:ext uri="{9D8B030D-6E8A-4147-A177-3AD203B41FA5}">
                      <a16:colId xmlns:a16="http://schemas.microsoft.com/office/drawing/2014/main" val="2209632836"/>
                    </a:ext>
                  </a:extLst>
                </a:gridCol>
                <a:gridCol w="2647342">
                  <a:extLst>
                    <a:ext uri="{9D8B030D-6E8A-4147-A177-3AD203B41FA5}">
                      <a16:colId xmlns:a16="http://schemas.microsoft.com/office/drawing/2014/main" val="1820609222"/>
                    </a:ext>
                  </a:extLst>
                </a:gridCol>
                <a:gridCol w="2647342">
                  <a:extLst>
                    <a:ext uri="{9D8B030D-6E8A-4147-A177-3AD203B41FA5}">
                      <a16:colId xmlns:a16="http://schemas.microsoft.com/office/drawing/2014/main" val="1929166714"/>
                    </a:ext>
                  </a:extLst>
                </a:gridCol>
                <a:gridCol w="2647342">
                  <a:extLst>
                    <a:ext uri="{9D8B030D-6E8A-4147-A177-3AD203B41FA5}">
                      <a16:colId xmlns:a16="http://schemas.microsoft.com/office/drawing/2014/main" val="3056882932"/>
                    </a:ext>
                  </a:extLst>
                </a:gridCol>
              </a:tblGrid>
              <a:tr h="883227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K-Means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Partitioning </a:t>
                      </a:r>
                    </a:p>
                    <a:p>
                      <a:pPr algn="ctr"/>
                      <a:r>
                        <a:rPr lang="en-CA" dirty="0"/>
                        <a:t>Around Medoids (PAM)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CA" dirty="0"/>
                        <a:t>Hierarchical Clustering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254808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Average zBMI of each group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Real children as cluster centers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 dendrogram showing how children are progressively grouped together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16885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# of children</a:t>
                      </a:r>
                      <a:endParaRPr lang="en-CA" sz="1600" i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</a:t>
                      </a:r>
                      <a:r>
                        <a:rPr lang="en-CA" sz="1600" dirty="0"/>
                        <a:t>119 </a:t>
                      </a:r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Cluster 2 = 102</a:t>
                      </a:r>
                    </a:p>
                    <a:p>
                      <a:pPr algn="ctr"/>
                      <a:r>
                        <a:rPr lang="en-US" sz="1600" dirty="0"/>
                        <a:t>Cluster 3 = 74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</a:t>
                      </a:r>
                      <a:r>
                        <a:rPr lang="en-CA" sz="1600" dirty="0"/>
                        <a:t>104 </a:t>
                      </a:r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Cluster 2 = 112</a:t>
                      </a:r>
                    </a:p>
                    <a:p>
                      <a:pPr algn="ctr"/>
                      <a:r>
                        <a:rPr lang="en-US" sz="1600" dirty="0"/>
                        <a:t>Cluster 3 = 79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</a:t>
                      </a:r>
                      <a:r>
                        <a:rPr lang="en-CA" sz="1600" dirty="0"/>
                        <a:t>72 </a:t>
                      </a:r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Cluster 2 = 174</a:t>
                      </a:r>
                    </a:p>
                    <a:p>
                      <a:pPr algn="ctr"/>
                      <a:r>
                        <a:rPr lang="en-US" sz="1600" dirty="0"/>
                        <a:t>Cluster 3 = 49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1508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Mean zBMI</a:t>
                      </a:r>
                      <a:endParaRPr lang="en-CA" sz="1600" i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</a:t>
                      </a:r>
                      <a:r>
                        <a:rPr lang="en-CA" sz="1600" dirty="0"/>
                        <a:t>0.045 </a:t>
                      </a:r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Cluster 2 = -1.032</a:t>
                      </a:r>
                    </a:p>
                    <a:p>
                      <a:pPr algn="ctr"/>
                      <a:r>
                        <a:rPr lang="en-US" sz="1600" dirty="0"/>
                        <a:t>Cluster 3 = 1.350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</a:t>
                      </a:r>
                      <a:r>
                        <a:rPr lang="en-CA" sz="1600" dirty="0"/>
                        <a:t>0.063 (ID 38)</a:t>
                      </a:r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Cluster 2 = -0.852 (ID 175)</a:t>
                      </a:r>
                    </a:p>
                    <a:p>
                      <a:pPr algn="ctr"/>
                      <a:r>
                        <a:rPr lang="en-US" sz="1600" dirty="0"/>
                        <a:t>Cluster 3 = </a:t>
                      </a:r>
                      <a:r>
                        <a:rPr lang="en-CA" sz="1600" dirty="0"/>
                        <a:t>1.186 (ID 101)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10403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Raw Interpretation</a:t>
                      </a:r>
                      <a:endParaRPr lang="en-CA" sz="1600" i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Cluster 1 = normal growth (~ 0 mean)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Cluster 2 = lower growth (~ -1 mean)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Cluster 3 = higher growth (~ +1.4 mean)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5562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F47FB5-D874-DA15-6257-715F4350E2CD}"/>
              </a:ext>
            </a:extLst>
          </p:cNvPr>
          <p:cNvSpPr txBox="1"/>
          <p:nvPr/>
        </p:nvSpPr>
        <p:spPr>
          <a:xfrm>
            <a:off x="3449783" y="5631875"/>
            <a:ext cx="532014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highlight>
                  <a:srgbClr val="FFFF00"/>
                </a:highlight>
              </a:rPr>
              <a:t>K-Means and PAM demonstrate that k=3 </a:t>
            </a:r>
          </a:p>
          <a:p>
            <a:pPr algn="ctr"/>
            <a:r>
              <a:rPr lang="en-US" sz="2000" dirty="0">
                <a:highlight>
                  <a:srgbClr val="FFFF00"/>
                </a:highlight>
              </a:rPr>
              <a:t>is a robust and valid solution for zBMI_24m</a:t>
            </a:r>
            <a:endParaRPr lang="en-CA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0727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D92F-0683-D25B-B68B-6BB7ED64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D62A8-DB25-B242-199F-AD575E1C5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DF5DB5-1618-5BB5-FC22-57152B631CBB}"/>
              </a:ext>
            </a:extLst>
          </p:cNvPr>
          <p:cNvSpPr/>
          <p:nvPr/>
        </p:nvSpPr>
        <p:spPr>
          <a:xfrm>
            <a:off x="592282" y="2452255"/>
            <a:ext cx="238991" cy="852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1B9EA-0E7E-C53B-3F57-9A695DAAB6A4}"/>
              </a:ext>
            </a:extLst>
          </p:cNvPr>
          <p:cNvSpPr txBox="1"/>
          <p:nvPr/>
        </p:nvSpPr>
        <p:spPr>
          <a:xfrm>
            <a:off x="509154" y="199505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Lower the better</a:t>
            </a:r>
            <a:endParaRPr lang="en-CA" sz="11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14515-5FB6-99ED-EE74-795710C1A0D3}"/>
              </a:ext>
            </a:extLst>
          </p:cNvPr>
          <p:cNvSpPr/>
          <p:nvPr/>
        </p:nvSpPr>
        <p:spPr>
          <a:xfrm>
            <a:off x="9192492" y="640773"/>
            <a:ext cx="238991" cy="2663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FC9E7E-17DB-7E70-3F17-D454570DE710}"/>
              </a:ext>
            </a:extLst>
          </p:cNvPr>
          <p:cNvSpPr txBox="1"/>
          <p:nvPr/>
        </p:nvSpPr>
        <p:spPr>
          <a:xfrm>
            <a:off x="9421092" y="935996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Higher the better</a:t>
            </a:r>
            <a:endParaRPr lang="en-CA" sz="11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C61ED5-D994-B9B1-ED81-161DD442AE8A}"/>
              </a:ext>
            </a:extLst>
          </p:cNvPr>
          <p:cNvSpPr txBox="1"/>
          <p:nvPr/>
        </p:nvSpPr>
        <p:spPr>
          <a:xfrm>
            <a:off x="1079983" y="3841513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Higher the better</a:t>
            </a:r>
            <a:endParaRPr lang="en-CA" sz="11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9EB32-A179-DC6F-2416-3F6DD31E104C}"/>
              </a:ext>
            </a:extLst>
          </p:cNvPr>
          <p:cNvSpPr/>
          <p:nvPr/>
        </p:nvSpPr>
        <p:spPr>
          <a:xfrm>
            <a:off x="592282" y="3810340"/>
            <a:ext cx="238991" cy="2663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8CB77E-C754-4B7B-04F8-E108718138C7}"/>
              </a:ext>
            </a:extLst>
          </p:cNvPr>
          <p:cNvSpPr txBox="1"/>
          <p:nvPr/>
        </p:nvSpPr>
        <p:spPr>
          <a:xfrm>
            <a:off x="7320961" y="4202790"/>
            <a:ext cx="39820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Connectivity</a:t>
            </a:r>
            <a:r>
              <a:rPr lang="en-US" dirty="0"/>
              <a:t> = hierarchical wins; k = 2</a:t>
            </a:r>
          </a:p>
          <a:p>
            <a:endParaRPr lang="en-US" dirty="0"/>
          </a:p>
          <a:p>
            <a:r>
              <a:rPr lang="en-US" b="1" dirty="0"/>
              <a:t>Dunn</a:t>
            </a:r>
            <a:r>
              <a:rPr lang="en-US" dirty="0"/>
              <a:t> = hierarchical wins; k = 4</a:t>
            </a:r>
          </a:p>
          <a:p>
            <a:endParaRPr lang="en-US" dirty="0"/>
          </a:p>
          <a:p>
            <a:r>
              <a:rPr lang="en-US" b="1" dirty="0"/>
              <a:t>Silhouette</a:t>
            </a:r>
            <a:r>
              <a:rPr lang="en-US" dirty="0"/>
              <a:t> = hierarchical wins; k = 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735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0BBF-692E-84C3-F51E-544EEFF6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F0D61-E7ED-0731-29DA-DBB2C312118A}"/>
              </a:ext>
            </a:extLst>
          </p:cNvPr>
          <p:cNvSpPr txBox="1"/>
          <p:nvPr/>
        </p:nvSpPr>
        <p:spPr>
          <a:xfrm>
            <a:off x="4009947" y="0"/>
            <a:ext cx="4172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Internal Validation Summary</a:t>
            </a:r>
            <a:endParaRPr lang="en-CA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04E8C-9225-AD9D-3BA4-9AF79959B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77" y="631630"/>
            <a:ext cx="5918721" cy="3164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26A3A-2576-17EE-1688-9AB27AC96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77" y="3931523"/>
            <a:ext cx="3519434" cy="9874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DF0E91-0E10-B8F0-C38F-9DDD6576A73D}"/>
              </a:ext>
            </a:extLst>
          </p:cNvPr>
          <p:cNvSpPr/>
          <p:nvPr/>
        </p:nvSpPr>
        <p:spPr>
          <a:xfrm>
            <a:off x="532077" y="3858787"/>
            <a:ext cx="3519434" cy="11225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256F3-4FDF-5186-92AD-3F87BEB6DE32}"/>
              </a:ext>
            </a:extLst>
          </p:cNvPr>
          <p:cNvSpPr txBox="1"/>
          <p:nvPr/>
        </p:nvSpPr>
        <p:spPr>
          <a:xfrm>
            <a:off x="5361707" y="4150621"/>
            <a:ext cx="6681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Internal validation shows that </a:t>
            </a:r>
            <a:r>
              <a:rPr lang="en-CA" b="1" dirty="0"/>
              <a:t>Hierarchical Method </a:t>
            </a:r>
            <a:r>
              <a:rPr lang="en-CA" dirty="0"/>
              <a:t>at </a:t>
            </a:r>
            <a:r>
              <a:rPr lang="en-CA" b="1" dirty="0"/>
              <a:t>2 clusters (k = 2) </a:t>
            </a:r>
            <a:r>
              <a:rPr lang="en-CA" dirty="0"/>
              <a:t>produces the best results </a:t>
            </a:r>
            <a:r>
              <a:rPr lang="en-CA" u="sng" dirty="0"/>
              <a:t>mathematically</a:t>
            </a:r>
            <a:r>
              <a:rPr lang="en-CA" dirty="0"/>
              <a:t>.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D10324C-6024-FE8B-C222-5219185EF662}"/>
              </a:ext>
            </a:extLst>
          </p:cNvPr>
          <p:cNvSpPr/>
          <p:nvPr/>
        </p:nvSpPr>
        <p:spPr>
          <a:xfrm>
            <a:off x="4291445" y="4420060"/>
            <a:ext cx="904010" cy="1074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AB14F-5C12-E72A-129F-162B4F5173A6}"/>
              </a:ext>
            </a:extLst>
          </p:cNvPr>
          <p:cNvSpPr txBox="1"/>
          <p:nvPr/>
        </p:nvSpPr>
        <p:spPr>
          <a:xfrm>
            <a:off x="319724" y="5420571"/>
            <a:ext cx="11552550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highlight>
                  <a:srgbClr val="FFFF00"/>
                </a:highlight>
              </a:rPr>
              <a:t>However, it’s </a:t>
            </a:r>
            <a:r>
              <a:rPr lang="en-US" sz="2000" u="sng" dirty="0">
                <a:highlight>
                  <a:srgbClr val="FFFF00"/>
                </a:highlight>
              </a:rPr>
              <a:t>biologically</a:t>
            </a:r>
            <a:r>
              <a:rPr lang="en-US" sz="2000" dirty="0">
                <a:highlight>
                  <a:srgbClr val="FFFF00"/>
                </a:highlight>
              </a:rPr>
              <a:t> meaningful to have </a:t>
            </a:r>
            <a:r>
              <a:rPr lang="en-US" sz="2000" b="1" dirty="0">
                <a:highlight>
                  <a:srgbClr val="FFFF00"/>
                </a:highlight>
              </a:rPr>
              <a:t>3 clusters (k = 3)</a:t>
            </a:r>
            <a:r>
              <a:rPr lang="en-US" sz="2000" dirty="0">
                <a:highlight>
                  <a:srgbClr val="FFFF00"/>
                </a:highlight>
              </a:rPr>
              <a:t>, which captures the growth </a:t>
            </a:r>
            <a:r>
              <a:rPr lang="en-CA" sz="2000" dirty="0">
                <a:highlight>
                  <a:srgbClr val="FFFF00"/>
                </a:highlight>
              </a:rPr>
              <a:t>heterogeneity</a:t>
            </a:r>
            <a:r>
              <a:rPr lang="en-US" sz="2000" dirty="0">
                <a:highlight>
                  <a:srgbClr val="FFFF00"/>
                </a:highlight>
              </a:rPr>
              <a:t>. </a:t>
            </a:r>
          </a:p>
          <a:p>
            <a:pPr algn="ctr"/>
            <a:endParaRPr lang="en-US" sz="2000" dirty="0">
              <a:highlight>
                <a:srgbClr val="FFFF00"/>
              </a:highlight>
            </a:endParaRPr>
          </a:p>
          <a:p>
            <a:pPr algn="ctr"/>
            <a:r>
              <a:rPr lang="en-US" sz="2000" b="1" dirty="0">
                <a:highlight>
                  <a:srgbClr val="FFFF00"/>
                </a:highlight>
              </a:rPr>
              <a:t>K-Means</a:t>
            </a:r>
            <a:r>
              <a:rPr lang="en-US" sz="2000" dirty="0">
                <a:highlight>
                  <a:srgbClr val="FFFF00"/>
                </a:highlight>
              </a:rPr>
              <a:t>, therefore, is the right choice for our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3090970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4235BD-FC30-BF05-E543-4EF78FAC9A9D}"/>
              </a:ext>
            </a:extLst>
          </p:cNvPr>
          <p:cNvSpPr txBox="1"/>
          <p:nvPr/>
        </p:nvSpPr>
        <p:spPr>
          <a:xfrm>
            <a:off x="4632746" y="0"/>
            <a:ext cx="2926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Clustering Profiling </a:t>
            </a:r>
            <a:endParaRPr lang="en-CA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F8DE0-D079-35A8-7193-79996F2838BD}"/>
              </a:ext>
            </a:extLst>
          </p:cNvPr>
          <p:cNvSpPr txBox="1"/>
          <p:nvPr/>
        </p:nvSpPr>
        <p:spPr>
          <a:xfrm>
            <a:off x="2313305" y="920993"/>
            <a:ext cx="7563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Compare maternal predictor variables across clusters</a:t>
            </a:r>
          </a:p>
          <a:p>
            <a:pPr algn="ctr"/>
            <a:r>
              <a:rPr lang="en-CA" b="1" dirty="0"/>
              <a:t>(</a:t>
            </a:r>
            <a:r>
              <a:rPr lang="en-US" dirty="0"/>
              <a:t>mean values of each predictor variable within each zBMI_24m cluster</a:t>
            </a:r>
            <a:r>
              <a:rPr lang="en-CA" b="1" dirty="0"/>
              <a:t>)</a:t>
            </a:r>
            <a:r>
              <a:rPr lang="en-CA" dirty="0"/>
              <a:t>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BD4309-945E-31C1-7052-4143F252B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03962"/>
              </p:ext>
            </p:extLst>
          </p:nvPr>
        </p:nvGraphicFramePr>
        <p:xfrm>
          <a:off x="490102" y="3273135"/>
          <a:ext cx="11211792" cy="313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665">
                  <a:extLst>
                    <a:ext uri="{9D8B030D-6E8A-4147-A177-3AD203B41FA5}">
                      <a16:colId xmlns:a16="http://schemas.microsoft.com/office/drawing/2014/main" val="3193102708"/>
                    </a:ext>
                  </a:extLst>
                </a:gridCol>
                <a:gridCol w="2478231">
                  <a:extLst>
                    <a:ext uri="{9D8B030D-6E8A-4147-A177-3AD203B41FA5}">
                      <a16:colId xmlns:a16="http://schemas.microsoft.com/office/drawing/2014/main" val="3854864804"/>
                    </a:ext>
                  </a:extLst>
                </a:gridCol>
                <a:gridCol w="2802948">
                  <a:extLst>
                    <a:ext uri="{9D8B030D-6E8A-4147-A177-3AD203B41FA5}">
                      <a16:colId xmlns:a16="http://schemas.microsoft.com/office/drawing/2014/main" val="3421580748"/>
                    </a:ext>
                  </a:extLst>
                </a:gridCol>
                <a:gridCol w="2802948">
                  <a:extLst>
                    <a:ext uri="{9D8B030D-6E8A-4147-A177-3AD203B41FA5}">
                      <a16:colId xmlns:a16="http://schemas.microsoft.com/office/drawing/2014/main" val="3319856147"/>
                    </a:ext>
                  </a:extLst>
                </a:gridCol>
              </a:tblGrid>
              <a:tr h="78360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K-Mean Method</a:t>
                      </a:r>
                      <a:endParaRPr lang="en-CA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Ultra processed score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 value</a:t>
                      </a:r>
                      <a:endParaRPr lang="en-CA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Household income index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 value</a:t>
                      </a:r>
                      <a:endParaRPr lang="en-CA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Energy intake (kcal)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 value</a:t>
                      </a:r>
                      <a:endParaRPr lang="en-CA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401301"/>
                  </a:ext>
                </a:extLst>
              </a:tr>
              <a:tr h="78360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Cluster 3 (Higher growth)</a:t>
                      </a:r>
                    </a:p>
                    <a:p>
                      <a:pPr algn="ctr"/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74 children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0.488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48.19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1834.68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56580"/>
                  </a:ext>
                </a:extLst>
              </a:tr>
              <a:tr h="78360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Cluster 2 (Lower growth)</a:t>
                      </a:r>
                    </a:p>
                    <a:p>
                      <a:pPr algn="ctr"/>
                      <a:r>
                        <a:rPr lang="en-US" sz="1600" dirty="0"/>
                        <a:t>102 children</a:t>
                      </a:r>
                      <a:endParaRPr lang="en-CA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0.487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51.37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1797.4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159441"/>
                  </a:ext>
                </a:extLst>
              </a:tr>
              <a:tr h="78360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Cluster 1 (Normal growth)</a:t>
                      </a:r>
                    </a:p>
                    <a:p>
                      <a:pPr algn="ctr"/>
                      <a:r>
                        <a:rPr lang="en-US" sz="1600" dirty="0"/>
                        <a:t>119 children</a:t>
                      </a:r>
                      <a:endParaRPr lang="en-CA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0.458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53.16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1817.27</a:t>
                      </a:r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017350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BE1085A3-1008-3953-84C0-D3A0514E79D7}"/>
              </a:ext>
            </a:extLst>
          </p:cNvPr>
          <p:cNvSpPr/>
          <p:nvPr/>
        </p:nvSpPr>
        <p:spPr>
          <a:xfrm rot="16200000">
            <a:off x="5897734" y="-1182016"/>
            <a:ext cx="394859" cy="8182156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1C6EF2-05E0-742F-B447-AE535AA83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085" y="1844323"/>
            <a:ext cx="8182157" cy="8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1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858</Words>
  <Application>Microsoft Office PowerPoint</Application>
  <PresentationFormat>Widescreen</PresentationFormat>
  <Paragraphs>186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Yue-Tong Chen</dc:creator>
  <cp:lastModifiedBy>Yue-Tong Chen</cp:lastModifiedBy>
  <cp:revision>405</cp:revision>
  <dcterms:created xsi:type="dcterms:W3CDTF">2026-03-24T15:41:42Z</dcterms:created>
  <dcterms:modified xsi:type="dcterms:W3CDTF">2026-04-07T15:20:39Z</dcterms:modified>
</cp:coreProperties>
</file>