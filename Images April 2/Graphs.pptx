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2" r:id="rId16"/>
    <p:sldId id="273" r:id="rId17"/>
    <p:sldId id="274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35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E3B6A-1818-454F-B66A-F376DC516B39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A6D2D-805E-47CF-8770-EC0B19399A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93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2. Missing Variables </a:t>
            </a:r>
          </a:p>
          <a:p>
            <a:endParaRPr lang="en-US" dirty="0"/>
          </a:p>
          <a:p>
            <a:r>
              <a:rPr lang="en-US" dirty="0"/>
              <a:t>Left Horizontal Bars: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Weight_12m_kg</a:t>
            </a:r>
            <a:r>
              <a:rPr lang="en-CA" b="1" dirty="0"/>
              <a:t> </a:t>
            </a:r>
            <a:r>
              <a:rPr lang="en-CA" dirty="0"/>
              <a:t>= 30 missing total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</a:t>
            </a:r>
            <a:r>
              <a:rPr lang="en-CA" dirty="0"/>
              <a:t> = 30 missing total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Fiber_intake_g</a:t>
            </a:r>
            <a:r>
              <a:rPr lang="en-CA" b="1" dirty="0"/>
              <a:t> </a:t>
            </a:r>
            <a:r>
              <a:rPr lang="en-CA" dirty="0"/>
              <a:t>= 30 missing total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Shannon_diversity</a:t>
            </a:r>
            <a:r>
              <a:rPr lang="en-CA" b="1" dirty="0"/>
              <a:t> </a:t>
            </a:r>
            <a:r>
              <a:rPr lang="en-CA" dirty="0"/>
              <a:t>= 30 missing total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WHO_zBMI_12m</a:t>
            </a:r>
            <a:r>
              <a:rPr lang="en-CA" b="1" dirty="0"/>
              <a:t> </a:t>
            </a:r>
            <a:r>
              <a:rPr lang="en-CA" dirty="0"/>
              <a:t>= 30 missing total</a:t>
            </a:r>
            <a:endParaRPr lang="en-US" dirty="0"/>
          </a:p>
          <a:p>
            <a:endParaRPr lang="en-US" dirty="0"/>
          </a:p>
          <a:p>
            <a:r>
              <a:rPr lang="en-US" dirty="0"/>
              <a:t>Top Vertical Bars: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25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Fiber intake </a:t>
            </a:r>
            <a:r>
              <a:rPr lang="en-US" dirty="0"/>
              <a:t>only, 25 people are missing Fiber intake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24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Shannon diversity </a:t>
            </a:r>
            <a:r>
              <a:rPr lang="en-US" dirty="0"/>
              <a:t>only, 24 people are missing Shannon diversity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22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</a:t>
            </a:r>
            <a:r>
              <a:rPr lang="en-US" dirty="0"/>
              <a:t> only, 22 people are missing ALT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21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 12m kg + WHO zBMI 12m</a:t>
            </a:r>
            <a:r>
              <a:rPr lang="en-US" dirty="0"/>
              <a:t>, 21 people are missing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4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Weight_12m_kg</a:t>
            </a:r>
            <a:r>
              <a:rPr lang="en-US" dirty="0"/>
              <a:t> +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 + WHO zBMI 12m, </a:t>
            </a:r>
            <a:r>
              <a:rPr lang="en-US" dirty="0"/>
              <a:t>4 people are missing three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3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Weight_12m_kg</a:t>
            </a:r>
            <a:r>
              <a:rPr lang="en-US" dirty="0"/>
              <a:t> + Shannon diversity +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WHO_zBMI_12m, </a:t>
            </a:r>
            <a:r>
              <a:rPr lang="en-US" dirty="0"/>
              <a:t>3 people are missing three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 </a:t>
            </a:r>
            <a:r>
              <a:rPr lang="en-US" dirty="0"/>
              <a:t>+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Fiber intake, </a:t>
            </a:r>
            <a:r>
              <a:rPr lang="en-US" dirty="0"/>
              <a:t>2 people are missing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</a:t>
            </a:r>
            <a:r>
              <a:rPr lang="en-US" dirty="0"/>
              <a:t> +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Shannon diversity, </a:t>
            </a:r>
            <a:r>
              <a:rPr lang="en-US" dirty="0"/>
              <a:t>2 people are missing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2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 12m kg + Fiber intake + WHO zBMI 12m, 2 people </a:t>
            </a:r>
            <a:r>
              <a:rPr lang="en-US" dirty="0"/>
              <a:t>are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missing three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1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Fiber intake</a:t>
            </a:r>
            <a:r>
              <a:rPr lang="en-US" dirty="0"/>
              <a:t> +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Shannon diversity</a:t>
            </a:r>
            <a:r>
              <a:rPr lang="en-US" dirty="0"/>
              <a:t>, 1 person is missing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"Are these 5 variables missing more in certain types of participants?"</a:t>
            </a:r>
            <a:endParaRPr lang="en-US" dirty="0"/>
          </a:p>
          <a:p>
            <a:r>
              <a:rPr lang="en-US" dirty="0"/>
              <a:t>If yes → missingness is </a:t>
            </a:r>
            <a:r>
              <a:rPr lang="en-US" b="1" dirty="0"/>
              <a:t>not random</a:t>
            </a:r>
            <a:r>
              <a:rPr lang="en-US" dirty="0"/>
              <a:t> → needs careful imputation strategy</a:t>
            </a:r>
          </a:p>
          <a:p>
            <a:r>
              <a:rPr lang="en-US" dirty="0"/>
              <a:t>If no → missingness is </a:t>
            </a:r>
            <a:r>
              <a:rPr lang="en-US" b="1" dirty="0"/>
              <a:t>random</a:t>
            </a:r>
            <a:r>
              <a:rPr lang="en-US" dirty="0"/>
              <a:t> → safer to impute or drop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352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4462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the Real Hopkins Statistic Please Stand Up? </a:t>
            </a:r>
            <a:r>
              <a:rPr lang="en-CA" dirty="0"/>
              <a:t>by Kevin Wright (https://journal.r-project.org/articles/RJ-2022-055/RJ-2022-055.pdf)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0424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6D2D-805E-47CF-8770-EC0B19399AD5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98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EDB5-15B8-120E-A91B-7BEBDC19F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7CBA7-8AD4-CAC3-6BBF-4B5A4FC34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6C966-2BBA-9B97-B304-9E1EE8C0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BF215-D58C-7EFC-EFC3-3DCA9B51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795A-BBB1-984D-A161-D25C6B78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6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EC11-B672-C162-A611-22E8191B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AF63-C712-1A28-E77A-AE5A50571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8B7F-1846-A487-3FC7-25CA2F00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6DE9E-2324-26D8-C467-CE2E4849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08743-B50A-0968-2233-ABF910B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516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2B71-1440-A2AB-1BA0-ACE5F63C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3206D-3E3B-8525-3C37-B008964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1193-12B0-201D-59C3-1B4D618E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0099-A14F-CBED-6764-3834E871F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E0FCA-C9E6-EDEC-AE55-567A92F5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69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FE96-B628-A248-CE8D-EE44F32B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7133-8661-360A-7B02-44D162EC7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1AB2-FACA-E48E-F72E-51238127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E8CA7-71A1-C360-B9BC-9575D99C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F948-3C5E-5213-E89D-AC49CC84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B6C14-6B47-3598-522B-3CCD39FE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649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5599-20FA-4DAF-6C6C-7231A26A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21B9A-5840-3CD0-621A-6F7ACE847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45CE0-20C8-80B8-5E8D-9BE860345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B3EA5-440B-F2B1-C30E-5B0F09062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1BC88-E2EF-D08E-268A-1B26B8AB3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31F12-F153-CDA3-A37A-35C8A683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9D55E-ECC1-BE24-7B94-831FFA67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9B1E0-AD73-2F51-8FAA-33DB89A0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005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8FBC-0C37-74F6-F12A-B93C17CC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E990D-0D15-21FB-6F1B-7B883FDB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77C9B-91C5-697C-F43B-341622A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79A0-FFF8-EB6C-2BE3-B55B7E09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01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A180D-081C-A832-86A9-E4E5DF5A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FBF73-AC38-E75A-B42D-DFED81E2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23B2-9C3D-A9ED-3623-1FE8AA70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50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00F9-4DDC-80DF-5326-255E350C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4C5A-C821-7265-A076-BFA249A2F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B9F9E-FBD5-B147-E885-59C10BF73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3FB52-455F-BB5E-E57E-82A38049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9A7E3-CA30-114E-BC56-57131949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C4179-BDA9-3ED8-A396-E6D33EF9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280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3F73-44C3-B89E-AD9A-9AD7DAD2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F1EF1-E567-1E1E-7C87-341A2643C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B0A9F-21EA-CAEF-811C-D69D7A5C9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EF491-707B-118A-596F-7B7F4DC4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7678A-1532-07BB-2E44-55058F24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80155-6A04-FE7E-D599-31FEF6D9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60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BDBA-0446-F8FB-922C-02B8C45D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E3230-982F-7168-5822-578E93056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AFBC5-7E47-9773-15D1-A20B65CE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78EF2-38B7-964F-E884-A2C7F491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44A36-2B36-9C2D-ACFE-74C5114A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117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FD3EC-C569-4BE3-23CD-6519019D3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49482-060E-00B6-F479-2E8A414A4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F1FC5-4DFB-B91B-6251-2DF41DBF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65BC-4565-9536-F3F4-D370C2A6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CAD44-9A06-8EA5-FF06-B00AC2D3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74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96E66-E834-BE84-62E5-50C73343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7050B-A965-D12E-BF95-C7818CA3D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15D61-1493-8E8E-DD36-A83CC321A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30BC-E745-4854-B6E6-071AEEFCBC0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06907-839E-6183-3C6A-99BED4A61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3F4E-C288-2213-0863-8421B322B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F17ED-C8A4-4CEF-B4CC-B59DECBEA7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36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8DE7B-0A44-6D0C-688F-92BFF39E1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09" y="113735"/>
            <a:ext cx="11076581" cy="663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9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4FA10-6D46-DD41-F3AF-101695233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9D53F1-91C2-9831-7422-E44757B9C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019" y="643466"/>
            <a:ext cx="932396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1F4D-CE63-9F0A-1A6F-41CA3377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0B18B6-AB2E-292B-14D3-5AB433DD2C70}"/>
              </a:ext>
            </a:extLst>
          </p:cNvPr>
          <p:cNvSpPr/>
          <p:nvPr/>
        </p:nvSpPr>
        <p:spPr>
          <a:xfrm>
            <a:off x="394447" y="430310"/>
            <a:ext cx="1886173" cy="15491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Preprocessing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E3665C-0506-79B5-E6EE-6F8FA4CE6E12}"/>
              </a:ext>
            </a:extLst>
          </p:cNvPr>
          <p:cNvSpPr/>
          <p:nvPr/>
        </p:nvSpPr>
        <p:spPr>
          <a:xfrm>
            <a:off x="2773680" y="430309"/>
            <a:ext cx="1886173" cy="15491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Unsupervised Clustering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7A6590-01EF-A7A3-5E99-A597E00465B8}"/>
              </a:ext>
            </a:extLst>
          </p:cNvPr>
          <p:cNvSpPr/>
          <p:nvPr/>
        </p:nvSpPr>
        <p:spPr>
          <a:xfrm>
            <a:off x="5152913" y="430309"/>
            <a:ext cx="1886173" cy="15491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Clusters Validation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573316-7ECE-6FC1-D8E7-774F92C52C34}"/>
              </a:ext>
            </a:extLst>
          </p:cNvPr>
          <p:cNvSpPr/>
          <p:nvPr/>
        </p:nvSpPr>
        <p:spPr>
          <a:xfrm>
            <a:off x="7532146" y="430309"/>
            <a:ext cx="1886173" cy="15491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Supervised Learning</a:t>
            </a:r>
            <a:endParaRPr lang="en-CA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D1190F-8F08-D5E1-9459-5807D1BBC743}"/>
              </a:ext>
            </a:extLst>
          </p:cNvPr>
          <p:cNvSpPr/>
          <p:nvPr/>
        </p:nvSpPr>
        <p:spPr>
          <a:xfrm>
            <a:off x="9911379" y="430309"/>
            <a:ext cx="1886173" cy="154910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Interpretation</a:t>
            </a:r>
            <a:endParaRPr lang="en-CA" b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1C482C-A150-0520-54BC-AEDE1F8E1152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280620" y="1204860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EEB796-0D0F-A667-4695-0296CDFAC18B}"/>
              </a:ext>
            </a:extLst>
          </p:cNvPr>
          <p:cNvCxnSpPr/>
          <p:nvPr/>
        </p:nvCxnSpPr>
        <p:spPr>
          <a:xfrm flipV="1">
            <a:off x="4659853" y="1204859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A71ED9-4EC5-6EF7-E133-2D2D2B43BD5B}"/>
              </a:ext>
            </a:extLst>
          </p:cNvPr>
          <p:cNvCxnSpPr/>
          <p:nvPr/>
        </p:nvCxnSpPr>
        <p:spPr>
          <a:xfrm flipV="1">
            <a:off x="7039086" y="1204858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8FF35D-19FC-A0E9-9B18-C2B06799C773}"/>
              </a:ext>
            </a:extLst>
          </p:cNvPr>
          <p:cNvCxnSpPr/>
          <p:nvPr/>
        </p:nvCxnSpPr>
        <p:spPr>
          <a:xfrm flipV="1">
            <a:off x="9418319" y="1204857"/>
            <a:ext cx="49306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C85D61-9C96-7571-1E10-72C4081682A1}"/>
              </a:ext>
            </a:extLst>
          </p:cNvPr>
          <p:cNvSpPr txBox="1"/>
          <p:nvPr/>
        </p:nvSpPr>
        <p:spPr>
          <a:xfrm>
            <a:off x="127906" y="2460804"/>
            <a:ext cx="2404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(All variables)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missingness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standardization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Clean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9AC81-3F51-F94E-1BEB-133FF70E9E65}"/>
              </a:ext>
            </a:extLst>
          </p:cNvPr>
          <p:cNvSpPr txBox="1"/>
          <p:nvPr/>
        </p:nvSpPr>
        <p:spPr>
          <a:xfrm>
            <a:off x="2594503" y="2460804"/>
            <a:ext cx="224452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400" dirty="0"/>
              <a:t>(4 Variables)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NbClust voting for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Elbow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Silhouette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PCA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Multiple K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Index Heatmap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24439-0F37-39F4-2C00-5D0D61B97965}"/>
              </a:ext>
            </a:extLst>
          </p:cNvPr>
          <p:cNvSpPr txBox="1"/>
          <p:nvPr/>
        </p:nvSpPr>
        <p:spPr>
          <a:xfrm>
            <a:off x="2594503" y="4476740"/>
            <a:ext cx="20653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Euclidean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Manhattan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(Hopkins)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91579-CCEA-8AB9-5AD6-E677AF819898}"/>
              </a:ext>
            </a:extLst>
          </p:cNvPr>
          <p:cNvSpPr txBox="1"/>
          <p:nvPr/>
        </p:nvSpPr>
        <p:spPr>
          <a:xfrm>
            <a:off x="830407" y="2183805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1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9433CC-758C-80F5-0C0E-A59A691B9260}"/>
              </a:ext>
            </a:extLst>
          </p:cNvPr>
          <p:cNvSpPr txBox="1"/>
          <p:nvPr/>
        </p:nvSpPr>
        <p:spPr>
          <a:xfrm>
            <a:off x="3209639" y="2183805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2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36658-8B84-A9FF-E29E-C9ECA94B8F82}"/>
              </a:ext>
            </a:extLst>
          </p:cNvPr>
          <p:cNvSpPr txBox="1"/>
          <p:nvPr/>
        </p:nvSpPr>
        <p:spPr>
          <a:xfrm>
            <a:off x="3209639" y="4199741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3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265CE-C117-CC73-C1BD-EE73D539C1CF}"/>
              </a:ext>
            </a:extLst>
          </p:cNvPr>
          <p:cNvSpPr txBox="1"/>
          <p:nvPr/>
        </p:nvSpPr>
        <p:spPr>
          <a:xfrm>
            <a:off x="3209639" y="5353903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4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E3DBFD-679C-5AC5-45D1-38DA0BE79948}"/>
              </a:ext>
            </a:extLst>
          </p:cNvPr>
          <p:cNvSpPr txBox="1"/>
          <p:nvPr/>
        </p:nvSpPr>
        <p:spPr>
          <a:xfrm>
            <a:off x="2684090" y="5630902"/>
            <a:ext cx="2065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 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PAM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Hierarchical clustering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6521A-1360-F48E-F238-085DA83799B2}"/>
              </a:ext>
            </a:extLst>
          </p:cNvPr>
          <p:cNvSpPr txBox="1"/>
          <p:nvPr/>
        </p:nvSpPr>
        <p:spPr>
          <a:xfrm>
            <a:off x="5588873" y="2183804"/>
            <a:ext cx="1014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highlight>
                  <a:srgbClr val="FFFF00"/>
                </a:highlight>
              </a:rPr>
              <a:t>R package 5</a:t>
            </a:r>
            <a:endParaRPr lang="en-CA" sz="12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86BE8-14B5-8F3B-1F67-0ED76D921F41}"/>
              </a:ext>
            </a:extLst>
          </p:cNvPr>
          <p:cNvSpPr txBox="1"/>
          <p:nvPr/>
        </p:nvSpPr>
        <p:spPr>
          <a:xfrm>
            <a:off x="5138950" y="2460803"/>
            <a:ext cx="1900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Stability validation</a:t>
            </a:r>
          </a:p>
        </p:txBody>
      </p:sp>
      <p:pic>
        <p:nvPicPr>
          <p:cNvPr id="24" name="Graphic 23" descr="Question Mark with solid fill">
            <a:extLst>
              <a:ext uri="{FF2B5EF4-FFF2-40B4-BE49-F238E27FC236}">
                <a16:creationId xmlns:a16="http://schemas.microsoft.com/office/drawing/2014/main" id="{BFCDC222-881B-0D4E-EBAE-77865FABA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8032" y="2183804"/>
            <a:ext cx="914400" cy="914400"/>
          </a:xfrm>
          <a:prstGeom prst="rect">
            <a:avLst/>
          </a:prstGeom>
        </p:spPr>
      </p:pic>
      <p:pic>
        <p:nvPicPr>
          <p:cNvPr id="25" name="Graphic 24" descr="Question Mark with solid fill">
            <a:extLst>
              <a:ext uri="{FF2B5EF4-FFF2-40B4-BE49-F238E27FC236}">
                <a16:creationId xmlns:a16="http://schemas.microsoft.com/office/drawing/2014/main" id="{C74F158F-DEC7-4908-F830-666F47F20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54559" y="21838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7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B98F-1CA4-CAC0-121C-1BBF8F89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65A5E9-4130-B5FC-F9AA-7FD31C33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523220"/>
            <a:ext cx="10058400" cy="6020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91F75-B3C9-5177-31E3-32E0B522BB6A}"/>
              </a:ext>
            </a:extLst>
          </p:cNvPr>
          <p:cNvSpPr txBox="1"/>
          <p:nvPr/>
        </p:nvSpPr>
        <p:spPr>
          <a:xfrm>
            <a:off x="1066799" y="6358663"/>
            <a:ext cx="323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1. NBClust voting result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09812-5120-AA0A-8E48-7403E13475CA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70574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5A5BD-765E-B492-615E-B0A6AC859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060196-95CD-6B2A-33DC-8BDA66B7E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538497"/>
            <a:ext cx="10058400" cy="5781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AB1433-6B24-AA44-329D-79D560673473}"/>
              </a:ext>
            </a:extLst>
          </p:cNvPr>
          <p:cNvSpPr txBox="1"/>
          <p:nvPr/>
        </p:nvSpPr>
        <p:spPr>
          <a:xfrm>
            <a:off x="1066799" y="6319503"/>
            <a:ext cx="3178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2. Elbow method result</a:t>
            </a: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7E9CC-97E7-24CC-B07B-423AA06EE347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324404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CED2-5FD9-38C8-4BDE-16C8D41F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5E4251-21EA-6F1B-E09D-2E52B20A0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658942"/>
            <a:ext cx="10058400" cy="5540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2018ED-D8EE-E2FC-7F9D-28F3A74AAAF4}"/>
              </a:ext>
            </a:extLst>
          </p:cNvPr>
          <p:cNvSpPr txBox="1"/>
          <p:nvPr/>
        </p:nvSpPr>
        <p:spPr>
          <a:xfrm>
            <a:off x="1066799" y="6199057"/>
            <a:ext cx="3556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3. Silhouette analysis result</a:t>
            </a: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80E6B-9EEC-648F-D07B-B4CF224928AA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347611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16DEBC-704B-0427-05F3-012CB3A5E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658942"/>
            <a:ext cx="10058400" cy="5540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C872F-077A-1C47-CBC6-824CB34DD52D}"/>
              </a:ext>
            </a:extLst>
          </p:cNvPr>
          <p:cNvSpPr txBox="1"/>
          <p:nvPr/>
        </p:nvSpPr>
        <p:spPr>
          <a:xfrm>
            <a:off x="1066799" y="6199057"/>
            <a:ext cx="483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4. PCA cluster visualization of 2 clusters</a:t>
            </a: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D1903-7533-A76C-0BC5-559416D6BD5F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2638748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B254-78FC-32AE-326D-45C7F327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403520-03E5-B1BB-01B1-5C448C9EC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658942"/>
            <a:ext cx="10058400" cy="5540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AEE6E2-80A1-FB6D-F299-C49BB37F2E99}"/>
              </a:ext>
            </a:extLst>
          </p:cNvPr>
          <p:cNvSpPr txBox="1"/>
          <p:nvPr/>
        </p:nvSpPr>
        <p:spPr>
          <a:xfrm>
            <a:off x="1066799" y="6199057"/>
            <a:ext cx="433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5. Comparisons of cluster numbers</a:t>
            </a: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43B69-2C0C-F5E5-CF50-B310F3625B9B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365064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EC75-96E8-F685-9F3F-35D106C5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34E2E-34BC-B5A2-A943-804ADCC1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739488"/>
            <a:ext cx="10058400" cy="5196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64B744-15E5-6EDF-C824-3840C9030531}"/>
              </a:ext>
            </a:extLst>
          </p:cNvPr>
          <p:cNvSpPr txBox="1"/>
          <p:nvPr/>
        </p:nvSpPr>
        <p:spPr>
          <a:xfrm>
            <a:off x="1066799" y="5933846"/>
            <a:ext cx="5413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6. Summary plots of exploratory data analysis</a:t>
            </a:r>
            <a:endParaRPr lang="en-C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5971B-7EF6-9250-79D8-0F89DAEF6E19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99305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8F11-67B8-46EF-2E3D-EFBDFE19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94DBB5-66EE-45BC-20D9-92FBD6234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94360"/>
            <a:ext cx="10972800" cy="5669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BABF3-CFF2-8B12-9191-C3C0227879A5}"/>
              </a:ext>
            </a:extLst>
          </p:cNvPr>
          <p:cNvSpPr txBox="1"/>
          <p:nvPr/>
        </p:nvSpPr>
        <p:spPr>
          <a:xfrm>
            <a:off x="609600" y="6334780"/>
            <a:ext cx="490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7. Euclidean distance data visualizations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5105B-4932-039C-3AE0-12B588357CBE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2148937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D3E3-5178-1D4F-7C48-0BCFFBAC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2D37AE-B8C6-7CE3-DE08-028ABDDC7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94360"/>
            <a:ext cx="10972800" cy="5669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B200E-F383-C4EF-678F-1DE74A977BB0}"/>
              </a:ext>
            </a:extLst>
          </p:cNvPr>
          <p:cNvSpPr txBox="1"/>
          <p:nvPr/>
        </p:nvSpPr>
        <p:spPr>
          <a:xfrm>
            <a:off x="609600" y="6334780"/>
            <a:ext cx="4988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8. Manhattan distance data visualizations</a:t>
            </a:r>
            <a:endParaRPr lang="en-CA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8BA90-1205-2C2E-8CB4-FE7616242DD7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380509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5983-487C-EEB8-2496-E1BC4696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515B9D7-153B-8B0C-DE06-B984DDB3A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80" y="1590163"/>
            <a:ext cx="5884920" cy="27875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CD06B5-43B4-FC64-D914-D662628C47A0}"/>
              </a:ext>
            </a:extLst>
          </p:cNvPr>
          <p:cNvSpPr txBox="1"/>
          <p:nvPr/>
        </p:nvSpPr>
        <p:spPr>
          <a:xfrm>
            <a:off x="6196407" y="1590163"/>
            <a:ext cx="5916706" cy="1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Hopkins statistic: 0.995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&gt; cat("Interpretation:",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+     </a:t>
            </a:r>
            <a:r>
              <a:rPr lang="en-US" sz="1200" b="0" i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ifelse</a:t>
            </a:r>
            <a:r>
              <a:rPr lang="en-US" sz="120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1200" b="0" i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hopkins_stat</a:t>
            </a:r>
            <a:r>
              <a:rPr lang="en-US" sz="120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 &gt; 0.5, 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+            "Data shows cluster tendency - worth clustering",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+            "Data may be random - clustering may not be meaningful"), "\n")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Interpretation: Data shows cluster tendency - worth clustering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96E2E-4BED-FA00-5429-E2F665A35160}"/>
              </a:ext>
            </a:extLst>
          </p:cNvPr>
          <p:cNvSpPr txBox="1"/>
          <p:nvPr/>
        </p:nvSpPr>
        <p:spPr>
          <a:xfrm>
            <a:off x="1603654" y="865828"/>
            <a:ext cx="3273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Hopkins Statistic Explanation</a:t>
            </a:r>
            <a:endParaRPr lang="en-CA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D9CCF0-28C3-06B6-34DD-6136A2EB01CF}"/>
              </a:ext>
            </a:extLst>
          </p:cNvPr>
          <p:cNvSpPr txBox="1"/>
          <p:nvPr/>
        </p:nvSpPr>
        <p:spPr>
          <a:xfrm>
            <a:off x="7518126" y="865828"/>
            <a:ext cx="282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Hopkins Statistic Results</a:t>
            </a:r>
            <a:endParaRPr lang="en-CA" b="1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D421C4-61DA-30BC-B2DE-31C7E50D0C50}"/>
              </a:ext>
            </a:extLst>
          </p:cNvPr>
          <p:cNvSpPr txBox="1"/>
          <p:nvPr/>
        </p:nvSpPr>
        <p:spPr>
          <a:xfrm>
            <a:off x="1934155" y="4924510"/>
            <a:ext cx="8323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Our 4 variables have a very strong natural clustering structure </a:t>
            </a:r>
            <a:endParaRPr lang="en-CA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52D47E-E8E8-4D5D-A7B2-5B923E3FA80A}"/>
              </a:ext>
            </a:extLst>
          </p:cNvPr>
          <p:cNvSpPr/>
          <p:nvPr/>
        </p:nvSpPr>
        <p:spPr>
          <a:xfrm>
            <a:off x="6196407" y="1590163"/>
            <a:ext cx="2388195" cy="206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891538-40D7-A17A-4B72-BFB63BFCD7F9}"/>
              </a:ext>
            </a:extLst>
          </p:cNvPr>
          <p:cNvSpPr txBox="1"/>
          <p:nvPr/>
        </p:nvSpPr>
        <p:spPr>
          <a:xfrm>
            <a:off x="2612905" y="5386175"/>
            <a:ext cx="6541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(Data is grouped in distinct patterns rather randomly distributed)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7BAB78-3823-B492-7274-84AC6CEA6EDE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82904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37B1-B241-D8C5-B60F-2BB1BB4A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C6ADF7-C7A1-4BDC-F21C-FBD274783383}"/>
              </a:ext>
            </a:extLst>
          </p:cNvPr>
          <p:cNvSpPr txBox="1"/>
          <p:nvPr/>
        </p:nvSpPr>
        <p:spPr>
          <a:xfrm>
            <a:off x="1066800" y="6027420"/>
            <a:ext cx="403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9. Elbow method K-means result</a:t>
            </a:r>
            <a:endParaRPr lang="en-CA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EC01B-69E3-6442-8463-8363BDE0A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30580"/>
            <a:ext cx="10058400" cy="5196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3AF7EE-22DC-183D-8F01-700868F2A149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251380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3648F-D48C-3DB1-F2F9-6A7B2665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4EF986-7108-952E-42C8-D125C096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24976"/>
            <a:ext cx="10058400" cy="5008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4A4953-F616-A826-0B83-3E897FF2A69B}"/>
              </a:ext>
            </a:extLst>
          </p:cNvPr>
          <p:cNvSpPr txBox="1"/>
          <p:nvPr/>
        </p:nvSpPr>
        <p:spPr>
          <a:xfrm>
            <a:off x="1066800" y="5933023"/>
            <a:ext cx="3706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10. K-means clustering result</a:t>
            </a:r>
            <a:endParaRPr lang="en-C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420B5-80D4-C84E-A9BD-FA1158083EAA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545449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B24F-55E7-D14A-EACE-292BE0A8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D22C64-9434-0C7C-3EA7-FE17D007C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30580"/>
            <a:ext cx="10058400" cy="5196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E2CD83-5FDD-07F4-DD19-65F75004E5FF}"/>
              </a:ext>
            </a:extLst>
          </p:cNvPr>
          <p:cNvSpPr txBox="1"/>
          <p:nvPr/>
        </p:nvSpPr>
        <p:spPr>
          <a:xfrm>
            <a:off x="1066800" y="5965448"/>
            <a:ext cx="4388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11. Silhouette method (PAM) result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4AB08-8EC7-2D94-4DB5-A7B61FDD54C6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2868746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6D9C3-E3B9-921A-63B1-CE86031E9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790C0B-63A9-1A14-BB6C-DD8819B31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30580"/>
            <a:ext cx="10058400" cy="5196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BC48CD-5E0B-D55B-DDBD-DB44540DBC06}"/>
              </a:ext>
            </a:extLst>
          </p:cNvPr>
          <p:cNvSpPr txBox="1"/>
          <p:nvPr/>
        </p:nvSpPr>
        <p:spPr>
          <a:xfrm>
            <a:off x="1066800" y="5965448"/>
            <a:ext cx="5324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12. Silhouette method (PAM) clustering result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44722-EC12-B29A-A38D-7BE36B4AA2CD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4084142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6F8F8-2716-1D5D-B35A-4DB867C9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43DDDF-B77D-096F-5690-A103E67E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30580"/>
            <a:ext cx="10058400" cy="5196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55AA2-7D65-89EE-2B4A-3C0A8E3EC88E}"/>
              </a:ext>
            </a:extLst>
          </p:cNvPr>
          <p:cNvSpPr txBox="1"/>
          <p:nvPr/>
        </p:nvSpPr>
        <p:spPr>
          <a:xfrm>
            <a:off x="1066800" y="5965448"/>
            <a:ext cx="4067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13. Hierarchical clustering result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D3C84-DC78-4CDA-7930-87759305C28F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1337420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8685-E223-6A9A-BDFD-9BFD499E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8F79B1-0C25-9C0B-4AF0-7041CAF9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830580"/>
            <a:ext cx="10058400" cy="5196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DB6A3-890E-F27C-D6D7-421D788F34B1}"/>
              </a:ext>
            </a:extLst>
          </p:cNvPr>
          <p:cNvSpPr txBox="1"/>
          <p:nvPr/>
        </p:nvSpPr>
        <p:spPr>
          <a:xfrm>
            <a:off x="1066800" y="5965448"/>
            <a:ext cx="5083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Plot 13. Hierarchical clustering (circular) result</a:t>
            </a:r>
            <a:endParaRPr lang="en-CA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D682E-AF43-DA55-7D47-50A09CDFE508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747108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774C-51CD-44F6-D07A-13B58065B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B3C770-139B-9AFA-0770-F9DC8D4983E4}"/>
              </a:ext>
            </a:extLst>
          </p:cNvPr>
          <p:cNvSpPr txBox="1"/>
          <p:nvPr/>
        </p:nvSpPr>
        <p:spPr>
          <a:xfrm>
            <a:off x="1097973" y="1692176"/>
            <a:ext cx="99960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CA" sz="2000" b="1" dirty="0"/>
              <a:t>K-Means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000" dirty="0"/>
              <a:t>300 children </a:t>
            </a:r>
            <a:r>
              <a:rPr lang="en-CA" sz="2000" dirty="0">
                <a:sym typeface="Wingdings" panose="05000000000000000000" pitchFamily="2" charset="2"/>
              </a:rPr>
              <a:t> 2 clusters (133 &amp; 167) = </a:t>
            </a:r>
            <a:r>
              <a:rPr lang="en-CA" sz="2000" dirty="0">
                <a:solidFill>
                  <a:srgbClr val="00B050"/>
                </a:solidFill>
                <a:sym typeface="Wingdings" panose="05000000000000000000" pitchFamily="2" charset="2"/>
              </a:rPr>
              <a:t>meaningful</a:t>
            </a:r>
          </a:p>
          <a:p>
            <a:pPr lvl="1"/>
            <a:endParaRPr lang="en-CA" sz="2000" dirty="0"/>
          </a:p>
          <a:p>
            <a:pPr marL="342900" indent="-342900">
              <a:buAutoNum type="arabicParenR"/>
            </a:pPr>
            <a:r>
              <a:rPr lang="en-CA" sz="2000" b="1" dirty="0"/>
              <a:t>PAM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000" dirty="0"/>
              <a:t>300 children </a:t>
            </a:r>
            <a:r>
              <a:rPr lang="en-CA" sz="2000" dirty="0">
                <a:sym typeface="Wingdings" panose="05000000000000000000" pitchFamily="2" charset="2"/>
              </a:rPr>
              <a:t> 2 clusters (</a:t>
            </a:r>
            <a:r>
              <a:rPr lang="en-CA" sz="2000" dirty="0"/>
              <a:t>139 </a:t>
            </a:r>
            <a:r>
              <a:rPr lang="en-CA" sz="2000" dirty="0">
                <a:sym typeface="Wingdings" panose="05000000000000000000" pitchFamily="2" charset="2"/>
              </a:rPr>
              <a:t>&amp; </a:t>
            </a:r>
            <a:r>
              <a:rPr lang="en-CA" sz="2000" dirty="0"/>
              <a:t>161</a:t>
            </a:r>
            <a:r>
              <a:rPr lang="en-CA" sz="2000" dirty="0">
                <a:sym typeface="Wingdings" panose="05000000000000000000" pitchFamily="2" charset="2"/>
              </a:rPr>
              <a:t>) = </a:t>
            </a:r>
            <a:r>
              <a:rPr lang="en-CA" sz="2000" dirty="0">
                <a:solidFill>
                  <a:srgbClr val="00B050"/>
                </a:solidFill>
                <a:sym typeface="Wingdings" panose="05000000000000000000" pitchFamily="2" charset="2"/>
              </a:rPr>
              <a:t>meaningful</a:t>
            </a:r>
          </a:p>
          <a:p>
            <a:pPr lvl="1"/>
            <a:endParaRPr lang="en-CA" sz="2000" dirty="0"/>
          </a:p>
          <a:p>
            <a:pPr marL="342900" indent="-342900">
              <a:buAutoNum type="arabicParenR"/>
            </a:pPr>
            <a:r>
              <a:rPr lang="en-CA" sz="2000" b="1" dirty="0"/>
              <a:t>Hierarchical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000" dirty="0"/>
              <a:t>300 children </a:t>
            </a:r>
            <a:r>
              <a:rPr lang="en-CA" sz="2000" dirty="0">
                <a:sym typeface="Wingdings" panose="05000000000000000000" pitchFamily="2" charset="2"/>
              </a:rPr>
              <a:t> 2 clusters (299 &amp; 1) = </a:t>
            </a:r>
            <a:r>
              <a:rPr lang="en-CA" sz="2000" dirty="0">
                <a:solidFill>
                  <a:srgbClr val="FF0000"/>
                </a:solidFill>
                <a:sym typeface="Wingdings" panose="05000000000000000000" pitchFamily="2" charset="2"/>
              </a:rPr>
              <a:t>failed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endParaRPr lang="en-C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5855A-66D3-1141-40C0-DFF24DC8ADE3}"/>
              </a:ext>
            </a:extLst>
          </p:cNvPr>
          <p:cNvSpPr txBox="1"/>
          <p:nvPr/>
        </p:nvSpPr>
        <p:spPr>
          <a:xfrm>
            <a:off x="4232573" y="1101436"/>
            <a:ext cx="3726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Using 2 as the optimal K value:</a:t>
            </a:r>
            <a:endParaRPr lang="en-CA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52B9D-2E7B-6E49-ED5A-EBEB97744E9E}"/>
              </a:ext>
            </a:extLst>
          </p:cNvPr>
          <p:cNvSpPr txBox="1"/>
          <p:nvPr/>
        </p:nvSpPr>
        <p:spPr>
          <a:xfrm>
            <a:off x="2975696" y="5356454"/>
            <a:ext cx="6240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K-Means and PAM both agree on a 2-cluster solution</a:t>
            </a:r>
            <a:endParaRPr lang="en-CA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D7B21-0D44-AD9F-BE65-1E032A313476}"/>
              </a:ext>
            </a:extLst>
          </p:cNvPr>
          <p:cNvSpPr txBox="1"/>
          <p:nvPr/>
        </p:nvSpPr>
        <p:spPr>
          <a:xfrm>
            <a:off x="3545140" y="0"/>
            <a:ext cx="5101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2: Unsupervised Clustering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3301976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BB92-8BD5-2544-D6D5-B6EFB1C0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9E636C-3702-E59B-9EF1-4231AC432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" y="646122"/>
            <a:ext cx="10058400" cy="5196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C3D970-3B4B-6B51-3016-A1E039F18CF7}"/>
              </a:ext>
            </a:extLst>
          </p:cNvPr>
          <p:cNvSpPr txBox="1"/>
          <p:nvPr/>
        </p:nvSpPr>
        <p:spPr>
          <a:xfrm>
            <a:off x="3944545" y="0"/>
            <a:ext cx="4302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3: Clusters Validation</a:t>
            </a:r>
            <a:endParaRPr lang="en-CA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5729E-4D3B-FF37-6B54-6486EFDC6B98}"/>
              </a:ext>
            </a:extLst>
          </p:cNvPr>
          <p:cNvSpPr txBox="1"/>
          <p:nvPr/>
        </p:nvSpPr>
        <p:spPr>
          <a:xfrm>
            <a:off x="1066799" y="5842962"/>
            <a:ext cx="10058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14. Stability validation results (APN, AD, ADM, and FOM)</a:t>
            </a:r>
          </a:p>
          <a:p>
            <a:pPr lvl="1"/>
            <a:r>
              <a:rPr lang="en-CA" sz="1400" dirty="0"/>
              <a:t>Hierarchical clustering (</a:t>
            </a:r>
            <a:r>
              <a:rPr lang="en-US" sz="1400" dirty="0"/>
              <a:t>black)	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K</a:t>
            </a:r>
            <a:r>
              <a:rPr lang="en-CA" sz="1400" dirty="0">
                <a:solidFill>
                  <a:srgbClr val="FF0000"/>
                </a:solidFill>
              </a:rPr>
              <a:t>-Means clustering (red)</a:t>
            </a:r>
            <a:r>
              <a:rPr lang="en-CA" sz="1400" dirty="0"/>
              <a:t>	</a:t>
            </a:r>
          </a:p>
          <a:p>
            <a:pPr lvl="1"/>
            <a:r>
              <a:rPr lang="en-CA" sz="1400" dirty="0">
                <a:solidFill>
                  <a:schemeClr val="accent6"/>
                </a:solidFill>
              </a:rPr>
              <a:t>PAM clustering (green)</a:t>
            </a:r>
            <a:endParaRPr lang="en-US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548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3C7F41-BFE9-62C3-6609-89C688C71F51}"/>
              </a:ext>
            </a:extLst>
          </p:cNvPr>
          <p:cNvSpPr txBox="1"/>
          <p:nvPr/>
        </p:nvSpPr>
        <p:spPr>
          <a:xfrm>
            <a:off x="3944545" y="0"/>
            <a:ext cx="4302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Section 3: Clusters Validation</a:t>
            </a:r>
            <a:endParaRPr lang="en-CA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BF3A08-6F42-521D-7F2B-7FB57CA14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04194"/>
              </p:ext>
            </p:extLst>
          </p:nvPr>
        </p:nvGraphicFramePr>
        <p:xfrm>
          <a:off x="380999" y="1433945"/>
          <a:ext cx="11430000" cy="4683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82060922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92916671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05688293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112037160"/>
                    </a:ext>
                  </a:extLst>
                </a:gridCol>
              </a:tblGrid>
              <a:tr h="8832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APN </a:t>
                      </a:r>
                    </a:p>
                    <a:p>
                      <a:pPr algn="ctr"/>
                      <a:r>
                        <a:rPr lang="en-US" dirty="0"/>
                        <a:t>(Average Proportion of Non-overlap)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AD </a:t>
                      </a:r>
                    </a:p>
                    <a:p>
                      <a:pPr algn="ctr"/>
                      <a:r>
                        <a:rPr lang="en-CA" dirty="0"/>
                        <a:t>(Average Distance)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ADM </a:t>
                      </a:r>
                    </a:p>
                    <a:p>
                      <a:pPr algn="ctr"/>
                      <a:r>
                        <a:rPr lang="en-US" dirty="0"/>
                        <a:t>(Average Distance between Means)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FOM </a:t>
                      </a:r>
                    </a:p>
                    <a:p>
                      <a:pPr algn="ctr"/>
                      <a:r>
                        <a:rPr lang="en-CA" dirty="0"/>
                        <a:t>(Figure of Merit)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254808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r>
                        <a:rPr lang="en-US" sz="1600" dirty="0"/>
                        <a:t>“How consistently observations stay in the same cluster when one variable is removed”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“Measures average distance between observations in the same cluster across full vs. reduced data”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“How much cluster centers shift when one variable is removed”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“Measures intra-cluster variance of the removed variable”</a:t>
                      </a:r>
                      <a:endParaRPr lang="en-CA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16885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Lower = more stable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Lower = more stable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Lower = more stable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dirty="0"/>
                        <a:t>Lower = more stable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38975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Hierarchical wins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PAM wins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Hierarchical wins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PAM wins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899532"/>
                  </a:ext>
                </a:extLst>
              </a:tr>
              <a:tr h="9008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Best k = 2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Best k = 6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Best k = 2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Best k = 3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315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FA2CBE-E5C8-24FE-3539-D57C022D076E}"/>
              </a:ext>
            </a:extLst>
          </p:cNvPr>
          <p:cNvSpPr txBox="1"/>
          <p:nvPr/>
        </p:nvSpPr>
        <p:spPr>
          <a:xfrm>
            <a:off x="4562695" y="934786"/>
            <a:ext cx="3066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Stability Tests Summary: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1350300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823</Words>
  <Application>Microsoft Office PowerPoint</Application>
  <PresentationFormat>Widescreen</PresentationFormat>
  <Paragraphs>138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Lucida Console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Yue-Tong Chen</dc:creator>
  <cp:lastModifiedBy>Yue-Tong Chen</cp:lastModifiedBy>
  <cp:revision>200</cp:revision>
  <dcterms:created xsi:type="dcterms:W3CDTF">2026-03-24T15:41:42Z</dcterms:created>
  <dcterms:modified xsi:type="dcterms:W3CDTF">2026-04-02T15:51:40Z</dcterms:modified>
</cp:coreProperties>
</file>